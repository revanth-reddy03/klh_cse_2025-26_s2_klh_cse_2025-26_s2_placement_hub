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4" name="Text 2"/>
          <p:cNvSpPr/>
          <p:nvPr/>
        </p:nvSpPr>
        <p:spPr>
          <a:xfrm>
            <a:off x="822960" y="1828800"/>
            <a:ext cx="9144000" cy="320040"/>
          </a:xfrm>
          <a:prstGeom prst="rect">
            <a:avLst/>
          </a:prstGeom>
          <a:noFill/>
        </p:spPr>
        <p:txBody>
          <a:bodyPr wrap="square" lIns="0" tIns="0" rIns="0" bIns="0" rtlCol="0" anchor="ctr"/>
          <a:lstStyle/>
          <a:p>
            <a:pPr marL="0" indent="0">
              <a:buNone/>
            </a:pPr>
            <a:r>
              <a:rPr lang="en-US" sz="1200" b="1" kern="0" spc="250" dirty="0">
                <a:solidFill>
                  <a:srgbClr val="8FA6E8"/>
                </a:solidFill>
                <a:latin typeface="Calibri" panose="020F0502020204030204" pitchFamily="34" charset="0"/>
                <a:ea typeface="Calibri" panose="020F0502020204030204" pitchFamily="34" charset="-122"/>
                <a:cs typeface="Calibri" panose="020F0502020204030204" pitchFamily="34" charset="-120"/>
              </a:rPr>
              <a:t>B.TECH </a:t>
            </a:r>
            <a:endParaRPr lang="en-US" sz="1200" dirty="0"/>
          </a:p>
        </p:txBody>
      </p:sp>
      <p:sp>
        <p:nvSpPr>
          <p:cNvPr id="5" name="Text 3"/>
          <p:cNvSpPr/>
          <p:nvPr/>
        </p:nvSpPr>
        <p:spPr>
          <a:xfrm>
            <a:off x="822960" y="2194560"/>
            <a:ext cx="10058400" cy="1097280"/>
          </a:xfrm>
          <a:prstGeom prst="rect">
            <a:avLst/>
          </a:prstGeom>
          <a:noFill/>
        </p:spPr>
        <p:txBody>
          <a:bodyPr wrap="square" lIns="0" tIns="0" rIns="0" bIns="0" rtlCol="0" anchor="ctr"/>
          <a:lstStyle/>
          <a:p>
            <a:pPr marL="0" indent="0">
              <a:buNone/>
            </a:pPr>
            <a:r>
              <a:rPr lang="en-US" sz="4800" b="1" dirty="0">
                <a:solidFill>
                  <a:srgbClr val="FFFFFF"/>
                </a:solidFill>
                <a:latin typeface="Cambria" panose="02040503050406030204" pitchFamily="34" charset="0"/>
                <a:ea typeface="Cambria" panose="02040503050406030204" pitchFamily="34" charset="-122"/>
                <a:cs typeface="Cambria" panose="02040503050406030204" pitchFamily="34" charset="-120"/>
              </a:rPr>
              <a:t>Placement Hub</a:t>
            </a:r>
            <a:endParaRPr lang="en-US" sz="4800" dirty="0"/>
          </a:p>
        </p:txBody>
      </p:sp>
      <p:sp>
        <p:nvSpPr>
          <p:cNvPr id="6" name="Text 4"/>
          <p:cNvSpPr/>
          <p:nvPr/>
        </p:nvSpPr>
        <p:spPr>
          <a:xfrm>
            <a:off x="822960" y="3246120"/>
            <a:ext cx="9326880" cy="822960"/>
          </a:xfrm>
          <a:prstGeom prst="rect">
            <a:avLst/>
          </a:prstGeom>
          <a:noFill/>
        </p:spPr>
        <p:txBody>
          <a:bodyPr wrap="square" lIns="0" tIns="0" rIns="0" bIns="0" rtlCol="0" anchor="ctr"/>
          <a:lstStyle/>
          <a:p>
            <a:pPr marL="0" indent="0">
              <a:lnSpc>
                <a:spcPct val="130000"/>
              </a:lnSpc>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A Centralized System for Managing Student Profiles, Company Details,</a:t>
            </a:r>
            <a:endParaRPr lang="en-US" sz="1600" dirty="0"/>
          </a:p>
          <a:p>
            <a:pPr marL="0" indent="0">
              <a:lnSpc>
                <a:spcPct val="130000"/>
              </a:lnSpc>
              <a:buNone/>
            </a:pPr>
            <a:r>
              <a:rPr lang="en-US" sz="1600" i="1" dirty="0">
                <a:solidFill>
                  <a:srgbClr val="CADCFC"/>
                </a:solidFill>
                <a:latin typeface="Calibri" panose="020F0502020204030204" pitchFamily="34" charset="0"/>
                <a:ea typeface="Calibri" panose="020F0502020204030204" pitchFamily="34" charset="-122"/>
                <a:cs typeface="Calibri" panose="020F0502020204030204" pitchFamily="34" charset="-120"/>
              </a:rPr>
              <a:t>and Recruitment Drives</a:t>
            </a:r>
            <a:endParaRPr lang="en-US" sz="1600" dirty="0"/>
          </a:p>
        </p:txBody>
      </p:sp>
      <p:sp>
        <p:nvSpPr>
          <p:cNvPr id="7" name="Shape 5"/>
          <p:cNvSpPr/>
          <p:nvPr/>
        </p:nvSpPr>
        <p:spPr>
          <a:xfrm>
            <a:off x="822960" y="4434840"/>
            <a:ext cx="1005840" cy="0"/>
          </a:xfrm>
          <a:prstGeom prst="line">
            <a:avLst/>
          </a:prstGeom>
          <a:noFill/>
          <a:ln w="38100">
            <a:solidFill>
              <a:srgbClr val="3E5CC7"/>
            </a:solidFill>
            <a:prstDash val="solid"/>
          </a:ln>
        </p:spPr>
      </p:sp>
      <p:sp>
        <p:nvSpPr>
          <p:cNvPr id="8" name="Text 6"/>
          <p:cNvSpPr/>
          <p:nvPr/>
        </p:nvSpPr>
        <p:spPr>
          <a:xfrm>
            <a:off x="822960" y="4617720"/>
            <a:ext cx="7607300" cy="506095"/>
          </a:xfrm>
          <a:prstGeom prst="rect">
            <a:avLst/>
          </a:prstGeom>
          <a:noFill/>
        </p:spPr>
        <p:txBody>
          <a:bodyPr wrap="square" lIns="0" tIns="0" rIns="0" bIns="0" rtlCol="0" anchor="ctr"/>
          <a:lstStyle/>
          <a:p>
            <a:pPr marL="0" indent="0">
              <a:buNone/>
            </a:pPr>
            <a:r>
              <a:rPr lang="en-US" sz="1200" dirty="0"/>
              <a:t>2520030424: Revanth Reddy</a:t>
            </a:r>
            <a:endParaRPr lang="en-US" sz="1200" dirty="0"/>
          </a:p>
          <a:p>
            <a:pPr marL="0" indent="0">
              <a:buNone/>
            </a:pPr>
            <a:r>
              <a:rPr lang="en-US" sz="1200" dirty="0"/>
              <a:t>2520030391: Subhash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p:spPr>
        <p:txBody>
          <a:bodyPr wrap="square" lIns="0" tIns="0" rIns="0" bIns="0" rtlCol="0" anchor="ctr"/>
          <a:lstStyle/>
          <a:p>
            <a:pPr marL="0" indent="0">
              <a:buNone/>
            </a:pPr>
            <a:endParaRPr lang="en-US" sz="1200" dirty="0"/>
          </a:p>
        </p:txBody>
      </p:sp>
      <p:sp>
        <p:nvSpPr>
          <p:cNvPr id="3" name="Text 1"/>
          <p:cNvSpPr/>
          <p:nvPr/>
        </p:nvSpPr>
        <p:spPr>
          <a:xfrm>
            <a:off x="640080" y="658368"/>
            <a:ext cx="10515600" cy="777240"/>
          </a:xfrm>
          <a:prstGeom prst="rect">
            <a:avLst/>
          </a:prstGeom>
          <a:noFill/>
        </p:spPr>
        <p:txBody>
          <a:bodyPr wrap="square" lIns="0" tIns="0" rIns="0" bIns="0" rtlCol="0" anchor="ctr"/>
          <a:lstStyle/>
          <a:p>
            <a:pPr marL="0" indent="0">
              <a:buNone/>
            </a:pPr>
            <a:r>
              <a:rPr lang="en-US" sz="3000" b="1" dirty="0">
                <a:solidFill>
                  <a:srgbClr val="1B2140"/>
                </a:solidFill>
                <a:latin typeface="Cambria" panose="02040503050406030204" pitchFamily="34" charset="0"/>
                <a:ea typeface="Cambria" panose="02040503050406030204" pitchFamily="34" charset="-122"/>
                <a:cs typeface="Cambria" panose="02040503050406030204" pitchFamily="34" charset="-120"/>
              </a:rPr>
              <a:t>Abstract</a:t>
            </a:r>
            <a:endParaRPr lang="en-US" sz="3000" dirty="0"/>
          </a:p>
        </p:txBody>
      </p:sp>
      <p:sp>
        <p:nvSpPr>
          <p:cNvPr id="4" name="Shape 2"/>
          <p:cNvSpPr/>
          <p:nvPr/>
        </p:nvSpPr>
        <p:spPr>
          <a:xfrm>
            <a:off x="640080" y="1691640"/>
            <a:ext cx="10881360" cy="4297680"/>
          </a:xfrm>
          <a:prstGeom prst="roundRect">
            <a:avLst>
              <a:gd name="adj" fmla="val 2128"/>
            </a:avLst>
          </a:prstGeom>
          <a:solidFill>
            <a:srgbClr val="FFFFFF"/>
          </a:solidFill>
          <a:ln w="12700">
            <a:solidFill>
              <a:srgbClr val="E2E8F5"/>
            </a:solidFill>
            <a:prstDash val="solid"/>
          </a:ln>
          <a:effectLst>
            <a:outerShdw blurRad="101600" dist="25400" dir="5400000" algn="bl" rotWithShape="0">
              <a:srgbClr val="1E2761">
                <a:alpha val="8000"/>
              </a:srgbClr>
            </a:outerShdw>
          </a:effectLst>
        </p:spPr>
      </p:sp>
      <p:sp>
        <p:nvSpPr>
          <p:cNvPr id="7" name="Text 4"/>
          <p:cNvSpPr/>
          <p:nvPr/>
        </p:nvSpPr>
        <p:spPr>
          <a:xfrm>
            <a:off x="1828800" y="1965960"/>
            <a:ext cx="9326880" cy="1417320"/>
          </a:xfrm>
          <a:prstGeom prst="rect">
            <a:avLst/>
          </a:prstGeom>
          <a:noFill/>
        </p:spPr>
        <p:txBody>
          <a:bodyPr wrap="square" lIns="0" tIns="0" rIns="0" bIns="0" rtlCol="0" anchor="ctr"/>
          <a:lstStyle/>
          <a:p>
            <a:pPr marL="0" indent="0">
              <a:lnSpc>
                <a:spcPct val="130000"/>
              </a:lnSpc>
              <a:buNone/>
            </a:pPr>
            <a:r>
              <a:rPr lang="en-US" sz="1400" dirty="0">
                <a:solidFill>
                  <a:srgbClr val="1B2140"/>
                </a:solidFill>
                <a:latin typeface="Calibri" panose="020F0502020204030204" pitchFamily="34" charset="0"/>
                <a:ea typeface="Calibri" panose="020F0502020204030204" pitchFamily="34" charset="-122"/>
                <a:cs typeface="Calibri" panose="020F0502020204030204" pitchFamily="34" charset="-120"/>
              </a:rPr>
              <a:t>College and university placement cells are responsible for coordinating recruitment activities between students and companies. This process typically involves maintaining detailed student profiles, keeping track of company requirements and visit history, and organizing recruitment drives from scheduling through to final selection. When handled manually, these tasks are time-consuming, error-prone, and difficult to scale as the number of students and participating companies grows.</a:t>
            </a:r>
            <a:endParaRPr lang="en-US" sz="1400" dirty="0"/>
          </a:p>
        </p:txBody>
      </p:sp>
      <p:sp>
        <p:nvSpPr>
          <p:cNvPr id="8" name="Text 5"/>
          <p:cNvSpPr/>
          <p:nvPr/>
        </p:nvSpPr>
        <p:spPr>
          <a:xfrm>
            <a:off x="1828800" y="3520440"/>
            <a:ext cx="9326880" cy="2148840"/>
          </a:xfrm>
          <a:prstGeom prst="rect">
            <a:avLst/>
          </a:prstGeom>
          <a:noFill/>
        </p:spPr>
        <p:txBody>
          <a:bodyPr wrap="square" lIns="0" tIns="0" rIns="0" bIns="0" rtlCol="0" anchor="ctr"/>
          <a:lstStyle/>
          <a:p>
            <a:pPr marL="0" indent="0">
              <a:lnSpc>
                <a:spcPct val="130000"/>
              </a:lnSpc>
              <a:buNone/>
            </a:pPr>
            <a:r>
              <a:rPr lang="en-US" sz="1400" dirty="0">
                <a:solidFill>
                  <a:srgbClr val="1B2140"/>
                </a:solidFill>
                <a:latin typeface="Calibri" panose="020F0502020204030204" pitchFamily="34" charset="0"/>
                <a:ea typeface="Calibri" panose="020F0502020204030204" pitchFamily="34" charset="-122"/>
                <a:cs typeface="Calibri" panose="020F0502020204030204" pitchFamily="34" charset="-120"/>
              </a:rPr>
              <a:t>The proposed Placement Hub is a web-based system designed to bring student profiles, company details, and recruitment drives together on a single platform. By centralizing this data and applying a structured matching process, the system helps placement cells connect students with job opportunities that suit their skills and eligibility, reducing manual effort and improving the overall placement experience.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p:spPr>
        <p:txBody>
          <a:bodyPr wrap="square" lIns="0" tIns="0" rIns="0" bIns="0" rtlCol="0" anchor="ctr"/>
          <a:lstStyle/>
          <a:p>
            <a:pPr marL="0" indent="0">
              <a:buNone/>
            </a:pPr>
            <a:endParaRPr lang="en-US" sz="1200" dirty="0"/>
          </a:p>
        </p:txBody>
      </p:sp>
      <p:sp>
        <p:nvSpPr>
          <p:cNvPr id="3" name="Text 1"/>
          <p:cNvSpPr/>
          <p:nvPr/>
        </p:nvSpPr>
        <p:spPr>
          <a:xfrm>
            <a:off x="640080" y="658368"/>
            <a:ext cx="10515600" cy="777240"/>
          </a:xfrm>
          <a:prstGeom prst="rect">
            <a:avLst/>
          </a:prstGeom>
          <a:noFill/>
        </p:spPr>
        <p:txBody>
          <a:bodyPr wrap="square" lIns="0" tIns="0" rIns="0" bIns="0" rtlCol="0" anchor="ctr"/>
          <a:lstStyle/>
          <a:p>
            <a:pPr marL="0" indent="0">
              <a:buNone/>
            </a:pPr>
            <a:r>
              <a:rPr lang="en-US" sz="3000" b="1" dirty="0">
                <a:solidFill>
                  <a:srgbClr val="1B2140"/>
                </a:solidFill>
                <a:latin typeface="Cambria" panose="02040503050406030204" pitchFamily="34" charset="0"/>
                <a:ea typeface="Cambria" panose="02040503050406030204" pitchFamily="34" charset="-122"/>
                <a:cs typeface="Cambria" panose="02040503050406030204" pitchFamily="34" charset="-120"/>
              </a:rPr>
              <a:t>Problem Statement</a:t>
            </a:r>
            <a:endParaRPr lang="en-US" sz="3000" dirty="0"/>
          </a:p>
        </p:txBody>
      </p:sp>
      <p:sp>
        <p:nvSpPr>
          <p:cNvPr id="4" name="Shape 2"/>
          <p:cNvSpPr/>
          <p:nvPr/>
        </p:nvSpPr>
        <p:spPr>
          <a:xfrm>
            <a:off x="640080" y="1783080"/>
            <a:ext cx="5257800" cy="1691640"/>
          </a:xfrm>
          <a:prstGeom prst="roundRect">
            <a:avLst>
              <a:gd name="adj" fmla="val 4324"/>
            </a:avLst>
          </a:prstGeom>
          <a:solidFill>
            <a:srgbClr val="FFFFFF"/>
          </a:solidFill>
          <a:ln w="12700">
            <a:solidFill>
              <a:srgbClr val="E2E8F5"/>
            </a:solidFill>
            <a:prstDash val="solid"/>
          </a:ln>
        </p:spPr>
      </p:sp>
      <p:sp>
        <p:nvSpPr>
          <p:cNvPr id="5" name="Shape 3"/>
          <p:cNvSpPr/>
          <p:nvPr/>
        </p:nvSpPr>
        <p:spPr>
          <a:xfrm>
            <a:off x="914400" y="2039112"/>
            <a:ext cx="548640" cy="548640"/>
          </a:xfrm>
          <a:prstGeom prst="ellipse">
            <a:avLst/>
          </a:prstGeom>
          <a:solidFill>
            <a:srgbClr val="C0392B"/>
          </a:solidFill>
        </p:spPr>
      </p:sp>
      <p:pic>
        <p:nvPicPr>
          <p:cNvPr id="6" name="Image 0" descr="warn.png"/>
          <p:cNvPicPr>
            <a:picLocks noChangeAspect="1"/>
          </p:cNvPicPr>
          <p:nvPr/>
        </p:nvPicPr>
        <p:blipFill>
          <a:blip r:embed="rId1"/>
          <a:stretch>
            <a:fillRect/>
          </a:stretch>
        </p:blipFill>
        <p:spPr>
          <a:xfrm>
            <a:off x="991210" y="2115922"/>
            <a:ext cx="395021" cy="395021"/>
          </a:xfrm>
          <a:prstGeom prst="rect">
            <a:avLst/>
          </a:prstGeom>
        </p:spPr>
      </p:pic>
      <p:sp>
        <p:nvSpPr>
          <p:cNvPr id="7" name="Text 4"/>
          <p:cNvSpPr/>
          <p:nvPr/>
        </p:nvSpPr>
        <p:spPr>
          <a:xfrm>
            <a:off x="1645920" y="1984248"/>
            <a:ext cx="4023360" cy="457200"/>
          </a:xfrm>
          <a:prstGeom prst="rect">
            <a:avLst/>
          </a:prstGeom>
          <a:noFill/>
        </p:spPr>
        <p:txBody>
          <a:bodyPr wrap="square" lIns="0" tIns="0" rIns="0" bIns="0" rtlCol="0" anchor="ctr"/>
          <a:lstStyle/>
          <a:p>
            <a:pPr marL="0" indent="0">
              <a:buNone/>
            </a:pPr>
            <a:r>
              <a:rPr lang="en-US" sz="1450" b="1" dirty="0">
                <a:solidFill>
                  <a:srgbClr val="1B2140"/>
                </a:solidFill>
                <a:latin typeface="Calibri" panose="020F0502020204030204" pitchFamily="34" charset="0"/>
                <a:ea typeface="Calibri" panose="020F0502020204030204" pitchFamily="34" charset="-122"/>
                <a:cs typeface="Calibri" panose="020F0502020204030204" pitchFamily="34" charset="-120"/>
              </a:rPr>
              <a:t>Fragmented Student Records</a:t>
            </a:r>
            <a:endParaRPr lang="en-US" sz="1450" dirty="0"/>
          </a:p>
        </p:txBody>
      </p:sp>
      <p:sp>
        <p:nvSpPr>
          <p:cNvPr id="8" name="Text 5"/>
          <p:cNvSpPr/>
          <p:nvPr/>
        </p:nvSpPr>
        <p:spPr>
          <a:xfrm>
            <a:off x="1645920" y="2441448"/>
            <a:ext cx="4023360" cy="914400"/>
          </a:xfrm>
          <a:prstGeom prst="rect">
            <a:avLst/>
          </a:prstGeom>
          <a:noFill/>
        </p:spPr>
        <p:txBody>
          <a:bodyPr wrap="square" lIns="0" tIns="0" rIns="0" bIns="0" rtlCol="0" anchor="ctr"/>
          <a:lstStyle/>
          <a:p>
            <a:pPr marL="0" indent="0">
              <a:lnSpc>
                <a:spcPct val="122000"/>
              </a:lnSpc>
              <a:buNone/>
            </a:pPr>
            <a:r>
              <a:rPr lang="en-US" sz="1150" dirty="0">
                <a:solidFill>
                  <a:srgbClr val="5A6280"/>
                </a:solidFill>
                <a:latin typeface="Calibri" panose="020F0502020204030204" pitchFamily="34" charset="0"/>
                <a:ea typeface="Calibri" panose="020F0502020204030204" pitchFamily="34" charset="-122"/>
                <a:cs typeface="Calibri" panose="020F0502020204030204" pitchFamily="34" charset="-120"/>
              </a:rPr>
              <a:t>Resumes, academic details, and skill data are scattered across spreadsheets, emails, and physical files, making verification slow and inconsistent.</a:t>
            </a:r>
            <a:endParaRPr lang="en-US" sz="1150" dirty="0"/>
          </a:p>
        </p:txBody>
      </p:sp>
      <p:sp>
        <p:nvSpPr>
          <p:cNvPr id="9" name="Shape 6"/>
          <p:cNvSpPr/>
          <p:nvPr/>
        </p:nvSpPr>
        <p:spPr>
          <a:xfrm>
            <a:off x="6263640" y="1783080"/>
            <a:ext cx="5257800" cy="1691640"/>
          </a:xfrm>
          <a:prstGeom prst="roundRect">
            <a:avLst>
              <a:gd name="adj" fmla="val 4324"/>
            </a:avLst>
          </a:prstGeom>
          <a:solidFill>
            <a:srgbClr val="FFFFFF"/>
          </a:solidFill>
          <a:ln w="12700">
            <a:solidFill>
              <a:srgbClr val="E2E8F5"/>
            </a:solidFill>
            <a:prstDash val="solid"/>
          </a:ln>
        </p:spPr>
      </p:sp>
      <p:sp>
        <p:nvSpPr>
          <p:cNvPr id="10" name="Shape 7"/>
          <p:cNvSpPr/>
          <p:nvPr/>
        </p:nvSpPr>
        <p:spPr>
          <a:xfrm>
            <a:off x="6537960" y="2039112"/>
            <a:ext cx="548640" cy="548640"/>
          </a:xfrm>
          <a:prstGeom prst="ellipse">
            <a:avLst/>
          </a:prstGeom>
          <a:solidFill>
            <a:srgbClr val="C0392B"/>
          </a:solidFill>
        </p:spPr>
      </p:sp>
      <p:pic>
        <p:nvPicPr>
          <p:cNvPr id="11" name="Image 1" descr="warn.png"/>
          <p:cNvPicPr>
            <a:picLocks noChangeAspect="1"/>
          </p:cNvPicPr>
          <p:nvPr/>
        </p:nvPicPr>
        <p:blipFill>
          <a:blip r:embed="rId1"/>
          <a:stretch>
            <a:fillRect/>
          </a:stretch>
        </p:blipFill>
        <p:spPr>
          <a:xfrm>
            <a:off x="6614770" y="2115922"/>
            <a:ext cx="395021" cy="395021"/>
          </a:xfrm>
          <a:prstGeom prst="rect">
            <a:avLst/>
          </a:prstGeom>
        </p:spPr>
      </p:pic>
      <p:sp>
        <p:nvSpPr>
          <p:cNvPr id="12" name="Text 8"/>
          <p:cNvSpPr/>
          <p:nvPr/>
        </p:nvSpPr>
        <p:spPr>
          <a:xfrm>
            <a:off x="7269480" y="1984248"/>
            <a:ext cx="4023360" cy="457200"/>
          </a:xfrm>
          <a:prstGeom prst="rect">
            <a:avLst/>
          </a:prstGeom>
          <a:noFill/>
        </p:spPr>
        <p:txBody>
          <a:bodyPr wrap="square" lIns="0" tIns="0" rIns="0" bIns="0" rtlCol="0" anchor="ctr"/>
          <a:lstStyle/>
          <a:p>
            <a:pPr marL="0" indent="0">
              <a:buNone/>
            </a:pPr>
            <a:r>
              <a:rPr lang="en-US" sz="1450" b="1" dirty="0">
                <a:solidFill>
                  <a:srgbClr val="1B2140"/>
                </a:solidFill>
                <a:latin typeface="Calibri" panose="020F0502020204030204" pitchFamily="34" charset="0"/>
                <a:ea typeface="Calibri" panose="020F0502020204030204" pitchFamily="34" charset="-122"/>
                <a:cs typeface="Calibri" panose="020F0502020204030204" pitchFamily="34" charset="-120"/>
              </a:rPr>
              <a:t>Untracked Company Information</a:t>
            </a:r>
            <a:endParaRPr lang="en-US" sz="1450" dirty="0"/>
          </a:p>
        </p:txBody>
      </p:sp>
      <p:sp>
        <p:nvSpPr>
          <p:cNvPr id="13" name="Text 9"/>
          <p:cNvSpPr/>
          <p:nvPr/>
        </p:nvSpPr>
        <p:spPr>
          <a:xfrm>
            <a:off x="7269480" y="2441448"/>
            <a:ext cx="4023360" cy="914400"/>
          </a:xfrm>
          <a:prstGeom prst="rect">
            <a:avLst/>
          </a:prstGeom>
          <a:noFill/>
        </p:spPr>
        <p:txBody>
          <a:bodyPr wrap="square" lIns="0" tIns="0" rIns="0" bIns="0" rtlCol="0" anchor="ctr"/>
          <a:lstStyle/>
          <a:p>
            <a:pPr marL="0" indent="0">
              <a:lnSpc>
                <a:spcPct val="122000"/>
              </a:lnSpc>
              <a:buNone/>
            </a:pPr>
            <a:r>
              <a:rPr lang="en-US" sz="1150" dirty="0">
                <a:solidFill>
                  <a:srgbClr val="5A6280"/>
                </a:solidFill>
                <a:latin typeface="Calibri" panose="020F0502020204030204" pitchFamily="34" charset="0"/>
                <a:ea typeface="Calibri" panose="020F0502020204030204" pitchFamily="34" charset="-122"/>
                <a:cs typeface="Calibri" panose="020F0502020204030204" pitchFamily="34" charset="-120"/>
              </a:rPr>
              <a:t>Recruiter contacts, hiring criteria, and past visit history are not stored systematically, leading to repeated or missed outreach.</a:t>
            </a:r>
            <a:endParaRPr lang="en-US" sz="1150" dirty="0"/>
          </a:p>
        </p:txBody>
      </p:sp>
      <p:sp>
        <p:nvSpPr>
          <p:cNvPr id="14" name="Shape 10"/>
          <p:cNvSpPr/>
          <p:nvPr/>
        </p:nvSpPr>
        <p:spPr>
          <a:xfrm>
            <a:off x="640080" y="3794760"/>
            <a:ext cx="5257800" cy="1691640"/>
          </a:xfrm>
          <a:prstGeom prst="roundRect">
            <a:avLst>
              <a:gd name="adj" fmla="val 4324"/>
            </a:avLst>
          </a:prstGeom>
          <a:solidFill>
            <a:srgbClr val="FFFFFF"/>
          </a:solidFill>
          <a:ln w="12700">
            <a:solidFill>
              <a:srgbClr val="E2E8F5"/>
            </a:solidFill>
            <a:prstDash val="solid"/>
          </a:ln>
        </p:spPr>
      </p:sp>
      <p:sp>
        <p:nvSpPr>
          <p:cNvPr id="15" name="Shape 11"/>
          <p:cNvSpPr/>
          <p:nvPr/>
        </p:nvSpPr>
        <p:spPr>
          <a:xfrm>
            <a:off x="914400" y="4050792"/>
            <a:ext cx="548640" cy="548640"/>
          </a:xfrm>
          <a:prstGeom prst="ellipse">
            <a:avLst/>
          </a:prstGeom>
          <a:solidFill>
            <a:srgbClr val="C0392B"/>
          </a:solidFill>
        </p:spPr>
      </p:sp>
      <p:pic>
        <p:nvPicPr>
          <p:cNvPr id="16" name="Image 2" descr="warn.png"/>
          <p:cNvPicPr>
            <a:picLocks noChangeAspect="1"/>
          </p:cNvPicPr>
          <p:nvPr/>
        </p:nvPicPr>
        <p:blipFill>
          <a:blip r:embed="rId1"/>
          <a:stretch>
            <a:fillRect/>
          </a:stretch>
        </p:blipFill>
        <p:spPr>
          <a:xfrm>
            <a:off x="991210" y="4127602"/>
            <a:ext cx="395021" cy="395021"/>
          </a:xfrm>
          <a:prstGeom prst="rect">
            <a:avLst/>
          </a:prstGeom>
        </p:spPr>
      </p:pic>
      <p:sp>
        <p:nvSpPr>
          <p:cNvPr id="17" name="Text 12"/>
          <p:cNvSpPr/>
          <p:nvPr/>
        </p:nvSpPr>
        <p:spPr>
          <a:xfrm>
            <a:off x="1645920" y="3995928"/>
            <a:ext cx="4023360" cy="457200"/>
          </a:xfrm>
          <a:prstGeom prst="rect">
            <a:avLst/>
          </a:prstGeom>
          <a:noFill/>
        </p:spPr>
        <p:txBody>
          <a:bodyPr wrap="square" lIns="0" tIns="0" rIns="0" bIns="0" rtlCol="0" anchor="ctr"/>
          <a:lstStyle/>
          <a:p>
            <a:pPr marL="0" indent="0">
              <a:buNone/>
            </a:pPr>
            <a:r>
              <a:rPr lang="en-US" sz="1450" b="1" dirty="0">
                <a:solidFill>
                  <a:srgbClr val="1B2140"/>
                </a:solidFill>
                <a:latin typeface="Calibri" panose="020F0502020204030204" pitchFamily="34" charset="0"/>
                <a:ea typeface="Calibri" panose="020F0502020204030204" pitchFamily="34" charset="-122"/>
                <a:cs typeface="Calibri" panose="020F0502020204030204" pitchFamily="34" charset="-120"/>
              </a:rPr>
              <a:t>Manual Drive Management</a:t>
            </a:r>
            <a:endParaRPr lang="en-US" sz="1450" dirty="0"/>
          </a:p>
        </p:txBody>
      </p:sp>
      <p:sp>
        <p:nvSpPr>
          <p:cNvPr id="18" name="Text 13"/>
          <p:cNvSpPr/>
          <p:nvPr/>
        </p:nvSpPr>
        <p:spPr>
          <a:xfrm>
            <a:off x="1645920" y="4453128"/>
            <a:ext cx="4023360" cy="914400"/>
          </a:xfrm>
          <a:prstGeom prst="rect">
            <a:avLst/>
          </a:prstGeom>
          <a:noFill/>
        </p:spPr>
        <p:txBody>
          <a:bodyPr wrap="square" lIns="0" tIns="0" rIns="0" bIns="0" rtlCol="0" anchor="ctr"/>
          <a:lstStyle/>
          <a:p>
            <a:pPr marL="0" indent="0">
              <a:lnSpc>
                <a:spcPct val="122000"/>
              </a:lnSpc>
              <a:buNone/>
            </a:pPr>
            <a:r>
              <a:rPr lang="en-US" sz="1150" dirty="0">
                <a:solidFill>
                  <a:srgbClr val="5A6280"/>
                </a:solidFill>
                <a:latin typeface="Calibri" panose="020F0502020204030204" pitchFamily="34" charset="0"/>
                <a:ea typeface="Calibri" panose="020F0502020204030204" pitchFamily="34" charset="-122"/>
                <a:cs typeface="Calibri" panose="020F0502020204030204" pitchFamily="34" charset="-120"/>
              </a:rPr>
              <a:t>Scheduling drives, shortlisting candidates, and communicating updates rely on phone calls and notices, causing delays and confusion.</a:t>
            </a:r>
            <a:endParaRPr lang="en-US" sz="1150" dirty="0"/>
          </a:p>
        </p:txBody>
      </p:sp>
      <p:sp>
        <p:nvSpPr>
          <p:cNvPr id="19" name="Shape 14"/>
          <p:cNvSpPr/>
          <p:nvPr/>
        </p:nvSpPr>
        <p:spPr>
          <a:xfrm>
            <a:off x="6263640" y="3794760"/>
            <a:ext cx="5257800" cy="1691640"/>
          </a:xfrm>
          <a:prstGeom prst="roundRect">
            <a:avLst>
              <a:gd name="adj" fmla="val 4324"/>
            </a:avLst>
          </a:prstGeom>
          <a:solidFill>
            <a:srgbClr val="FFFFFF"/>
          </a:solidFill>
          <a:ln w="12700">
            <a:solidFill>
              <a:srgbClr val="E2E8F5"/>
            </a:solidFill>
            <a:prstDash val="solid"/>
          </a:ln>
        </p:spPr>
      </p:sp>
      <p:sp>
        <p:nvSpPr>
          <p:cNvPr id="20" name="Shape 15"/>
          <p:cNvSpPr/>
          <p:nvPr/>
        </p:nvSpPr>
        <p:spPr>
          <a:xfrm>
            <a:off x="6537960" y="4050792"/>
            <a:ext cx="548640" cy="548640"/>
          </a:xfrm>
          <a:prstGeom prst="ellipse">
            <a:avLst/>
          </a:prstGeom>
          <a:solidFill>
            <a:srgbClr val="C0392B"/>
          </a:solidFill>
        </p:spPr>
      </p:sp>
      <p:pic>
        <p:nvPicPr>
          <p:cNvPr id="21" name="Image 3" descr="warn.png"/>
          <p:cNvPicPr>
            <a:picLocks noChangeAspect="1"/>
          </p:cNvPicPr>
          <p:nvPr/>
        </p:nvPicPr>
        <p:blipFill>
          <a:blip r:embed="rId1"/>
          <a:stretch>
            <a:fillRect/>
          </a:stretch>
        </p:blipFill>
        <p:spPr>
          <a:xfrm>
            <a:off x="6614770" y="4127602"/>
            <a:ext cx="395021" cy="395021"/>
          </a:xfrm>
          <a:prstGeom prst="rect">
            <a:avLst/>
          </a:prstGeom>
        </p:spPr>
      </p:pic>
      <p:sp>
        <p:nvSpPr>
          <p:cNvPr id="22" name="Text 16"/>
          <p:cNvSpPr/>
          <p:nvPr/>
        </p:nvSpPr>
        <p:spPr>
          <a:xfrm>
            <a:off x="7269480" y="3995928"/>
            <a:ext cx="4023360" cy="457200"/>
          </a:xfrm>
          <a:prstGeom prst="rect">
            <a:avLst/>
          </a:prstGeom>
          <a:noFill/>
        </p:spPr>
        <p:txBody>
          <a:bodyPr wrap="square" lIns="0" tIns="0" rIns="0" bIns="0" rtlCol="0" anchor="ctr"/>
          <a:lstStyle/>
          <a:p>
            <a:pPr marL="0" indent="0">
              <a:buNone/>
            </a:pPr>
            <a:r>
              <a:rPr lang="en-US" sz="1450" b="1" dirty="0">
                <a:solidFill>
                  <a:srgbClr val="1B2140"/>
                </a:solidFill>
                <a:latin typeface="Calibri" panose="020F0502020204030204" pitchFamily="34" charset="0"/>
                <a:ea typeface="Calibri" panose="020F0502020204030204" pitchFamily="34" charset="-122"/>
                <a:cs typeface="Calibri" panose="020F0502020204030204" pitchFamily="34" charset="-120"/>
              </a:rPr>
              <a:t>No Structured Matching</a:t>
            </a:r>
            <a:endParaRPr lang="en-US" sz="1450" dirty="0"/>
          </a:p>
        </p:txBody>
      </p:sp>
      <p:sp>
        <p:nvSpPr>
          <p:cNvPr id="23" name="Text 17"/>
          <p:cNvSpPr/>
          <p:nvPr/>
        </p:nvSpPr>
        <p:spPr>
          <a:xfrm>
            <a:off x="7269480" y="4453128"/>
            <a:ext cx="4023360" cy="914400"/>
          </a:xfrm>
          <a:prstGeom prst="rect">
            <a:avLst/>
          </a:prstGeom>
          <a:noFill/>
        </p:spPr>
        <p:txBody>
          <a:bodyPr wrap="square" lIns="0" tIns="0" rIns="0" bIns="0" rtlCol="0" anchor="ctr"/>
          <a:lstStyle/>
          <a:p>
            <a:pPr marL="0" indent="0">
              <a:lnSpc>
                <a:spcPct val="122000"/>
              </a:lnSpc>
              <a:buNone/>
            </a:pPr>
            <a:r>
              <a:rPr lang="en-US" sz="1150" dirty="0">
                <a:solidFill>
                  <a:srgbClr val="5A6280"/>
                </a:solidFill>
                <a:latin typeface="Calibri" panose="020F0502020204030204" pitchFamily="34" charset="0"/>
                <a:ea typeface="Calibri" panose="020F0502020204030204" pitchFamily="34" charset="-122"/>
                <a:cs typeface="Calibri" panose="020F0502020204030204" pitchFamily="34" charset="-120"/>
              </a:rPr>
              <a:t>Without a defined matching process, students are not efficiently connected to job openings that fit their profile and eligibility.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p:spPr>
        <p:txBody>
          <a:bodyPr wrap="square" lIns="0" tIns="0" rIns="0" bIns="0" rtlCol="0" anchor="ctr"/>
          <a:lstStyle/>
          <a:p>
            <a:pPr marL="0" indent="0">
              <a:buNone/>
            </a:pPr>
            <a:endParaRPr lang="en-US" sz="1200" dirty="0"/>
          </a:p>
        </p:txBody>
      </p:sp>
      <p:sp>
        <p:nvSpPr>
          <p:cNvPr id="3" name="Text 1"/>
          <p:cNvSpPr/>
          <p:nvPr/>
        </p:nvSpPr>
        <p:spPr>
          <a:xfrm>
            <a:off x="640080" y="658368"/>
            <a:ext cx="10515600" cy="777240"/>
          </a:xfrm>
          <a:prstGeom prst="rect">
            <a:avLst/>
          </a:prstGeom>
          <a:noFill/>
        </p:spPr>
        <p:txBody>
          <a:bodyPr wrap="square" lIns="0" tIns="0" rIns="0" bIns="0" rtlCol="0" anchor="ctr"/>
          <a:lstStyle/>
          <a:p>
            <a:pPr marL="0" indent="0">
              <a:buNone/>
            </a:pPr>
            <a:r>
              <a:rPr lang="en-US" sz="3000" b="1" dirty="0">
                <a:solidFill>
                  <a:srgbClr val="1B2140"/>
                </a:solidFill>
                <a:latin typeface="Cambria" panose="02040503050406030204" pitchFamily="34" charset="0"/>
                <a:ea typeface="Cambria" panose="02040503050406030204" pitchFamily="34" charset="-122"/>
                <a:cs typeface="Cambria" panose="02040503050406030204" pitchFamily="34" charset="-120"/>
              </a:rPr>
              <a:t>Proposed Functionalities</a:t>
            </a:r>
            <a:endParaRPr lang="en-US" sz="3000" dirty="0"/>
          </a:p>
        </p:txBody>
      </p:sp>
      <p:sp>
        <p:nvSpPr>
          <p:cNvPr id="4" name="Shape 2"/>
          <p:cNvSpPr/>
          <p:nvPr/>
        </p:nvSpPr>
        <p:spPr>
          <a:xfrm>
            <a:off x="696316" y="1783080"/>
            <a:ext cx="3429000" cy="1965960"/>
          </a:xfrm>
          <a:prstGeom prst="roundRect">
            <a:avLst>
              <a:gd name="adj" fmla="val 4651"/>
            </a:avLst>
          </a:prstGeom>
          <a:solidFill>
            <a:srgbClr val="FFFFFF"/>
          </a:solidFill>
          <a:ln w="12700">
            <a:solidFill>
              <a:srgbClr val="E2E8F5"/>
            </a:solidFill>
            <a:prstDash val="solid"/>
          </a:ln>
          <a:effectLst>
            <a:outerShdw blurRad="76200" dist="25400" dir="5400000" algn="bl" rotWithShape="0">
              <a:srgbClr val="1E2761">
                <a:alpha val="10000"/>
              </a:srgbClr>
            </a:outerShdw>
          </a:effectLst>
        </p:spPr>
      </p:sp>
      <p:sp>
        <p:nvSpPr>
          <p:cNvPr id="5" name="Shape 3"/>
          <p:cNvSpPr/>
          <p:nvPr/>
        </p:nvSpPr>
        <p:spPr>
          <a:xfrm>
            <a:off x="924916" y="2011680"/>
            <a:ext cx="566928" cy="566928"/>
          </a:xfrm>
          <a:prstGeom prst="ellipse">
            <a:avLst/>
          </a:prstGeom>
          <a:solidFill>
            <a:srgbClr val="1E2761"/>
          </a:solidFill>
        </p:spPr>
      </p:sp>
      <p:pic>
        <p:nvPicPr>
          <p:cNvPr id="6" name="Image 0" descr="student.png"/>
          <p:cNvPicPr>
            <a:picLocks noChangeAspect="1"/>
          </p:cNvPicPr>
          <p:nvPr/>
        </p:nvPicPr>
        <p:blipFill>
          <a:blip r:embed="rId1"/>
          <a:stretch>
            <a:fillRect/>
          </a:stretch>
        </p:blipFill>
        <p:spPr>
          <a:xfrm>
            <a:off x="1004286" y="2091050"/>
            <a:ext cx="408188" cy="408188"/>
          </a:xfrm>
          <a:prstGeom prst="rect">
            <a:avLst/>
          </a:prstGeom>
        </p:spPr>
      </p:pic>
      <p:sp>
        <p:nvSpPr>
          <p:cNvPr id="7" name="Text 4"/>
          <p:cNvSpPr/>
          <p:nvPr/>
        </p:nvSpPr>
        <p:spPr>
          <a:xfrm>
            <a:off x="1610716" y="1984248"/>
            <a:ext cx="2331720" cy="594360"/>
          </a:xfrm>
          <a:prstGeom prst="rect">
            <a:avLst/>
          </a:prstGeom>
          <a:noFill/>
        </p:spPr>
        <p:txBody>
          <a:bodyPr wrap="square" lIns="0" tIns="0" rIns="0" bIns="0" rtlCol="0" anchor="t"/>
          <a:lstStyle/>
          <a:p>
            <a:pPr marL="0" indent="0">
              <a:buNone/>
            </a:pPr>
            <a:r>
              <a:rPr lang="en-US" sz="1300" b="1" dirty="0">
                <a:solidFill>
                  <a:srgbClr val="1B2140"/>
                </a:solidFill>
                <a:latin typeface="Calibri" panose="020F0502020204030204" pitchFamily="34" charset="0"/>
                <a:ea typeface="Calibri" panose="020F0502020204030204" pitchFamily="34" charset="-122"/>
                <a:cs typeface="Calibri" panose="020F0502020204030204" pitchFamily="34" charset="-120"/>
              </a:rPr>
              <a:t>Student Profile Management</a:t>
            </a:r>
            <a:endParaRPr lang="en-US" sz="1300" dirty="0"/>
          </a:p>
        </p:txBody>
      </p:sp>
      <p:sp>
        <p:nvSpPr>
          <p:cNvPr id="8" name="Text 5"/>
          <p:cNvSpPr/>
          <p:nvPr/>
        </p:nvSpPr>
        <p:spPr>
          <a:xfrm>
            <a:off x="924916" y="2715768"/>
            <a:ext cx="2971800" cy="868680"/>
          </a:xfrm>
          <a:prstGeom prst="rect">
            <a:avLst/>
          </a:prstGeom>
          <a:noFill/>
        </p:spPr>
        <p:txBody>
          <a:bodyPr wrap="square" lIns="0" tIns="0" rIns="0" bIns="0" rtlCol="0" anchor="ctr"/>
          <a:lstStyle/>
          <a:p>
            <a:pPr marL="0" indent="0">
              <a:lnSpc>
                <a:spcPct val="120000"/>
              </a:lnSpc>
              <a:buNone/>
            </a:pPr>
            <a:r>
              <a:rPr lang="en-US" sz="1100" dirty="0">
                <a:solidFill>
                  <a:srgbClr val="5A6280"/>
                </a:solidFill>
                <a:latin typeface="Calibri" panose="020F0502020204030204" pitchFamily="34" charset="0"/>
                <a:ea typeface="Calibri" panose="020F0502020204030204" pitchFamily="34" charset="-122"/>
                <a:cs typeface="Calibri" panose="020F0502020204030204" pitchFamily="34" charset="-120"/>
              </a:rPr>
              <a:t>Add, verify, and update academic records, skills, and resumes.</a:t>
            </a:r>
            <a:endParaRPr lang="en-US" sz="1100" dirty="0"/>
          </a:p>
        </p:txBody>
      </p:sp>
      <p:sp>
        <p:nvSpPr>
          <p:cNvPr id="9" name="Shape 6"/>
          <p:cNvSpPr/>
          <p:nvPr/>
        </p:nvSpPr>
        <p:spPr>
          <a:xfrm>
            <a:off x="4381348" y="1783080"/>
            <a:ext cx="3429000" cy="1965960"/>
          </a:xfrm>
          <a:prstGeom prst="roundRect">
            <a:avLst>
              <a:gd name="adj" fmla="val 4651"/>
            </a:avLst>
          </a:prstGeom>
          <a:solidFill>
            <a:srgbClr val="FFFFFF"/>
          </a:solidFill>
          <a:ln w="12700">
            <a:solidFill>
              <a:srgbClr val="E2E8F5"/>
            </a:solidFill>
            <a:prstDash val="solid"/>
          </a:ln>
          <a:effectLst>
            <a:outerShdw blurRad="76200" dist="25400" dir="5400000" algn="bl" rotWithShape="0">
              <a:srgbClr val="1E2761">
                <a:alpha val="10000"/>
              </a:srgbClr>
            </a:outerShdw>
          </a:effectLst>
        </p:spPr>
      </p:sp>
      <p:sp>
        <p:nvSpPr>
          <p:cNvPr id="10" name="Shape 7"/>
          <p:cNvSpPr/>
          <p:nvPr/>
        </p:nvSpPr>
        <p:spPr>
          <a:xfrm>
            <a:off x="4609948" y="2011680"/>
            <a:ext cx="566928" cy="566928"/>
          </a:xfrm>
          <a:prstGeom prst="ellipse">
            <a:avLst/>
          </a:prstGeom>
          <a:solidFill>
            <a:srgbClr val="1E2761"/>
          </a:solidFill>
        </p:spPr>
      </p:sp>
      <p:pic>
        <p:nvPicPr>
          <p:cNvPr id="11" name="Image 1" descr="company.png"/>
          <p:cNvPicPr>
            <a:picLocks noChangeAspect="1"/>
          </p:cNvPicPr>
          <p:nvPr/>
        </p:nvPicPr>
        <p:blipFill>
          <a:blip r:embed="rId2"/>
          <a:stretch>
            <a:fillRect/>
          </a:stretch>
        </p:blipFill>
        <p:spPr>
          <a:xfrm>
            <a:off x="4689318" y="2091050"/>
            <a:ext cx="408188" cy="408188"/>
          </a:xfrm>
          <a:prstGeom prst="rect">
            <a:avLst/>
          </a:prstGeom>
        </p:spPr>
      </p:pic>
      <p:sp>
        <p:nvSpPr>
          <p:cNvPr id="12" name="Text 8"/>
          <p:cNvSpPr/>
          <p:nvPr/>
        </p:nvSpPr>
        <p:spPr>
          <a:xfrm>
            <a:off x="5295748" y="1984248"/>
            <a:ext cx="2331720" cy="594360"/>
          </a:xfrm>
          <a:prstGeom prst="rect">
            <a:avLst/>
          </a:prstGeom>
          <a:noFill/>
        </p:spPr>
        <p:txBody>
          <a:bodyPr wrap="square" lIns="0" tIns="0" rIns="0" bIns="0" rtlCol="0" anchor="t"/>
          <a:lstStyle/>
          <a:p>
            <a:pPr marL="0" indent="0">
              <a:buNone/>
            </a:pPr>
            <a:r>
              <a:rPr lang="en-US" sz="1300" b="1" dirty="0">
                <a:solidFill>
                  <a:srgbClr val="1B2140"/>
                </a:solidFill>
                <a:latin typeface="Calibri" panose="020F0502020204030204" pitchFamily="34" charset="0"/>
                <a:ea typeface="Calibri" panose="020F0502020204030204" pitchFamily="34" charset="-122"/>
                <a:cs typeface="Calibri" panose="020F0502020204030204" pitchFamily="34" charset="-120"/>
              </a:rPr>
              <a:t>Company Database</a:t>
            </a:r>
            <a:endParaRPr lang="en-US" sz="1300" dirty="0"/>
          </a:p>
        </p:txBody>
      </p:sp>
      <p:sp>
        <p:nvSpPr>
          <p:cNvPr id="13" name="Text 9"/>
          <p:cNvSpPr/>
          <p:nvPr/>
        </p:nvSpPr>
        <p:spPr>
          <a:xfrm>
            <a:off x="4609948" y="2715768"/>
            <a:ext cx="2971800" cy="868680"/>
          </a:xfrm>
          <a:prstGeom prst="rect">
            <a:avLst/>
          </a:prstGeom>
          <a:noFill/>
        </p:spPr>
        <p:txBody>
          <a:bodyPr wrap="square" lIns="0" tIns="0" rIns="0" bIns="0" rtlCol="0" anchor="ctr"/>
          <a:lstStyle/>
          <a:p>
            <a:pPr marL="0" indent="0">
              <a:lnSpc>
                <a:spcPct val="120000"/>
              </a:lnSpc>
              <a:buNone/>
            </a:pPr>
            <a:r>
              <a:rPr lang="en-US" sz="1100" dirty="0">
                <a:solidFill>
                  <a:srgbClr val="5A6280"/>
                </a:solidFill>
                <a:latin typeface="Calibri" panose="020F0502020204030204" pitchFamily="34" charset="0"/>
                <a:ea typeface="Calibri" panose="020F0502020204030204" pitchFamily="34" charset="-122"/>
                <a:cs typeface="Calibri" panose="020F0502020204030204" pitchFamily="34" charset="-120"/>
              </a:rPr>
              <a:t>Maintain recruiter details, hiring criteria, and visit history.</a:t>
            </a:r>
            <a:endParaRPr lang="en-US" sz="1100" dirty="0"/>
          </a:p>
        </p:txBody>
      </p:sp>
      <p:sp>
        <p:nvSpPr>
          <p:cNvPr id="14" name="Shape 10"/>
          <p:cNvSpPr/>
          <p:nvPr/>
        </p:nvSpPr>
        <p:spPr>
          <a:xfrm>
            <a:off x="8066380" y="1783080"/>
            <a:ext cx="3429000" cy="1965960"/>
          </a:xfrm>
          <a:prstGeom prst="roundRect">
            <a:avLst>
              <a:gd name="adj" fmla="val 4651"/>
            </a:avLst>
          </a:prstGeom>
          <a:solidFill>
            <a:srgbClr val="FFFFFF"/>
          </a:solidFill>
          <a:ln w="12700">
            <a:solidFill>
              <a:srgbClr val="E2E8F5"/>
            </a:solidFill>
            <a:prstDash val="solid"/>
          </a:ln>
          <a:effectLst>
            <a:outerShdw blurRad="76200" dist="25400" dir="5400000" algn="bl" rotWithShape="0">
              <a:srgbClr val="1E2761">
                <a:alpha val="10000"/>
              </a:srgbClr>
            </a:outerShdw>
          </a:effectLst>
        </p:spPr>
      </p:sp>
      <p:sp>
        <p:nvSpPr>
          <p:cNvPr id="15" name="Shape 11"/>
          <p:cNvSpPr/>
          <p:nvPr/>
        </p:nvSpPr>
        <p:spPr>
          <a:xfrm>
            <a:off x="8294980" y="2011680"/>
            <a:ext cx="566928" cy="566928"/>
          </a:xfrm>
          <a:prstGeom prst="ellipse">
            <a:avLst/>
          </a:prstGeom>
          <a:solidFill>
            <a:srgbClr val="1E2761"/>
          </a:solidFill>
        </p:spPr>
      </p:sp>
      <p:pic>
        <p:nvPicPr>
          <p:cNvPr id="16" name="Image 2" descr="drive.png"/>
          <p:cNvPicPr>
            <a:picLocks noChangeAspect="1"/>
          </p:cNvPicPr>
          <p:nvPr/>
        </p:nvPicPr>
        <p:blipFill>
          <a:blip r:embed="rId3"/>
          <a:stretch>
            <a:fillRect/>
          </a:stretch>
        </p:blipFill>
        <p:spPr>
          <a:xfrm>
            <a:off x="8374350" y="2091050"/>
            <a:ext cx="408188" cy="408188"/>
          </a:xfrm>
          <a:prstGeom prst="rect">
            <a:avLst/>
          </a:prstGeom>
        </p:spPr>
      </p:pic>
      <p:sp>
        <p:nvSpPr>
          <p:cNvPr id="17" name="Text 12"/>
          <p:cNvSpPr/>
          <p:nvPr/>
        </p:nvSpPr>
        <p:spPr>
          <a:xfrm>
            <a:off x="8980780" y="1984248"/>
            <a:ext cx="2331720" cy="594360"/>
          </a:xfrm>
          <a:prstGeom prst="rect">
            <a:avLst/>
          </a:prstGeom>
          <a:noFill/>
        </p:spPr>
        <p:txBody>
          <a:bodyPr wrap="square" lIns="0" tIns="0" rIns="0" bIns="0" rtlCol="0" anchor="t"/>
          <a:lstStyle/>
          <a:p>
            <a:pPr marL="0" indent="0">
              <a:buNone/>
            </a:pPr>
            <a:r>
              <a:rPr lang="en-US" sz="1300" b="1" dirty="0">
                <a:solidFill>
                  <a:srgbClr val="1B2140"/>
                </a:solidFill>
                <a:latin typeface="Calibri" panose="020F0502020204030204" pitchFamily="34" charset="0"/>
                <a:ea typeface="Calibri" panose="020F0502020204030204" pitchFamily="34" charset="-122"/>
                <a:cs typeface="Calibri" panose="020F0502020204030204" pitchFamily="34" charset="-120"/>
              </a:rPr>
              <a:t>Recruitment Drive Scheduling</a:t>
            </a:r>
            <a:endParaRPr lang="en-US" sz="1300" dirty="0"/>
          </a:p>
        </p:txBody>
      </p:sp>
      <p:sp>
        <p:nvSpPr>
          <p:cNvPr id="18" name="Text 13"/>
          <p:cNvSpPr/>
          <p:nvPr/>
        </p:nvSpPr>
        <p:spPr>
          <a:xfrm>
            <a:off x="8294980" y="2715768"/>
            <a:ext cx="2971800" cy="868680"/>
          </a:xfrm>
          <a:prstGeom prst="rect">
            <a:avLst/>
          </a:prstGeom>
          <a:noFill/>
        </p:spPr>
        <p:txBody>
          <a:bodyPr wrap="square" lIns="0" tIns="0" rIns="0" bIns="0" rtlCol="0" anchor="ctr"/>
          <a:lstStyle/>
          <a:p>
            <a:pPr marL="0" indent="0">
              <a:lnSpc>
                <a:spcPct val="120000"/>
              </a:lnSpc>
              <a:buNone/>
            </a:pPr>
            <a:r>
              <a:rPr lang="en-US" sz="1100" dirty="0">
                <a:solidFill>
                  <a:srgbClr val="5A6280"/>
                </a:solidFill>
                <a:latin typeface="Calibri" panose="020F0502020204030204" pitchFamily="34" charset="0"/>
                <a:ea typeface="Calibri" panose="020F0502020204030204" pitchFamily="34" charset="-122"/>
                <a:cs typeface="Calibri" panose="020F0502020204030204" pitchFamily="34" charset="-120"/>
              </a:rPr>
              <a:t>Plan, publish, and track drives from posting to results.</a:t>
            </a:r>
            <a:endParaRPr lang="en-US" sz="1100" dirty="0"/>
          </a:p>
        </p:txBody>
      </p:sp>
      <p:sp>
        <p:nvSpPr>
          <p:cNvPr id="19" name="Shape 14"/>
          <p:cNvSpPr/>
          <p:nvPr/>
        </p:nvSpPr>
        <p:spPr>
          <a:xfrm>
            <a:off x="696316" y="4023360"/>
            <a:ext cx="3429000" cy="1965960"/>
          </a:xfrm>
          <a:prstGeom prst="roundRect">
            <a:avLst>
              <a:gd name="adj" fmla="val 4651"/>
            </a:avLst>
          </a:prstGeom>
          <a:solidFill>
            <a:srgbClr val="FFFFFF"/>
          </a:solidFill>
          <a:ln w="12700">
            <a:solidFill>
              <a:srgbClr val="E2E8F5"/>
            </a:solidFill>
            <a:prstDash val="solid"/>
          </a:ln>
          <a:effectLst>
            <a:outerShdw blurRad="76200" dist="25400" dir="5400000" algn="bl" rotWithShape="0">
              <a:srgbClr val="1E2761">
                <a:alpha val="10000"/>
              </a:srgbClr>
            </a:outerShdw>
          </a:effectLst>
        </p:spPr>
      </p:sp>
      <p:sp>
        <p:nvSpPr>
          <p:cNvPr id="20" name="Shape 15"/>
          <p:cNvSpPr/>
          <p:nvPr/>
        </p:nvSpPr>
        <p:spPr>
          <a:xfrm>
            <a:off x="924916" y="4251960"/>
            <a:ext cx="566928" cy="566928"/>
          </a:xfrm>
          <a:prstGeom prst="ellipse">
            <a:avLst/>
          </a:prstGeom>
          <a:solidFill>
            <a:srgbClr val="1E2761"/>
          </a:solidFill>
        </p:spPr>
      </p:sp>
      <p:pic>
        <p:nvPicPr>
          <p:cNvPr id="21" name="Image 3" descr="match.png"/>
          <p:cNvPicPr>
            <a:picLocks noChangeAspect="1"/>
          </p:cNvPicPr>
          <p:nvPr/>
        </p:nvPicPr>
        <p:blipFill>
          <a:blip r:embed="rId4"/>
          <a:stretch>
            <a:fillRect/>
          </a:stretch>
        </p:blipFill>
        <p:spPr>
          <a:xfrm>
            <a:off x="1004286" y="4331330"/>
            <a:ext cx="408188" cy="408188"/>
          </a:xfrm>
          <a:prstGeom prst="rect">
            <a:avLst/>
          </a:prstGeom>
        </p:spPr>
      </p:pic>
      <p:sp>
        <p:nvSpPr>
          <p:cNvPr id="22" name="Text 16"/>
          <p:cNvSpPr/>
          <p:nvPr/>
        </p:nvSpPr>
        <p:spPr>
          <a:xfrm>
            <a:off x="1610716" y="4224528"/>
            <a:ext cx="2331720" cy="594360"/>
          </a:xfrm>
          <a:prstGeom prst="rect">
            <a:avLst/>
          </a:prstGeom>
          <a:noFill/>
        </p:spPr>
        <p:txBody>
          <a:bodyPr wrap="square" lIns="0" tIns="0" rIns="0" bIns="0" rtlCol="0" anchor="t"/>
          <a:lstStyle/>
          <a:p>
            <a:pPr marL="0" indent="0">
              <a:buNone/>
            </a:pPr>
            <a:r>
              <a:rPr lang="en-US" sz="1300" b="1" dirty="0">
                <a:solidFill>
                  <a:srgbClr val="1B2140"/>
                </a:solidFill>
                <a:latin typeface="Calibri" panose="020F0502020204030204" pitchFamily="34" charset="0"/>
                <a:ea typeface="Calibri" panose="020F0502020204030204" pitchFamily="34" charset="-122"/>
                <a:cs typeface="Calibri" panose="020F0502020204030204" pitchFamily="34" charset="-120"/>
              </a:rPr>
              <a:t>Job Matching Engine</a:t>
            </a:r>
            <a:endParaRPr lang="en-US" sz="1300" dirty="0"/>
          </a:p>
        </p:txBody>
      </p:sp>
      <p:sp>
        <p:nvSpPr>
          <p:cNvPr id="23" name="Text 17"/>
          <p:cNvSpPr/>
          <p:nvPr/>
        </p:nvSpPr>
        <p:spPr>
          <a:xfrm>
            <a:off x="924916" y="4956048"/>
            <a:ext cx="2971800" cy="868680"/>
          </a:xfrm>
          <a:prstGeom prst="rect">
            <a:avLst/>
          </a:prstGeom>
          <a:noFill/>
        </p:spPr>
        <p:txBody>
          <a:bodyPr wrap="square" lIns="0" tIns="0" rIns="0" bIns="0" rtlCol="0" anchor="ctr"/>
          <a:lstStyle/>
          <a:p>
            <a:pPr marL="0" indent="0">
              <a:lnSpc>
                <a:spcPct val="120000"/>
              </a:lnSpc>
              <a:buNone/>
            </a:pPr>
            <a:r>
              <a:rPr lang="en-US" sz="1100" dirty="0">
                <a:solidFill>
                  <a:srgbClr val="5A6280"/>
                </a:solidFill>
                <a:latin typeface="Calibri" panose="020F0502020204030204" pitchFamily="34" charset="0"/>
                <a:ea typeface="Calibri" panose="020F0502020204030204" pitchFamily="34" charset="-122"/>
                <a:cs typeface="Calibri" panose="020F0502020204030204" pitchFamily="34" charset="-120"/>
              </a:rPr>
              <a:t>Match eligible students to openings based on defined criteria.</a:t>
            </a:r>
            <a:endParaRPr lang="en-US" sz="1100" dirty="0"/>
          </a:p>
        </p:txBody>
      </p:sp>
      <p:sp>
        <p:nvSpPr>
          <p:cNvPr id="24" name="Shape 18"/>
          <p:cNvSpPr/>
          <p:nvPr/>
        </p:nvSpPr>
        <p:spPr>
          <a:xfrm>
            <a:off x="4381348" y="4023360"/>
            <a:ext cx="3429000" cy="1965960"/>
          </a:xfrm>
          <a:prstGeom prst="roundRect">
            <a:avLst>
              <a:gd name="adj" fmla="val 4651"/>
            </a:avLst>
          </a:prstGeom>
          <a:solidFill>
            <a:srgbClr val="FFFFFF"/>
          </a:solidFill>
          <a:ln w="12700">
            <a:solidFill>
              <a:srgbClr val="E2E8F5"/>
            </a:solidFill>
            <a:prstDash val="solid"/>
          </a:ln>
          <a:effectLst>
            <a:outerShdw blurRad="76200" dist="25400" dir="5400000" algn="bl" rotWithShape="0">
              <a:srgbClr val="1E2761">
                <a:alpha val="10000"/>
              </a:srgbClr>
            </a:outerShdw>
          </a:effectLst>
        </p:spPr>
      </p:sp>
      <p:sp>
        <p:nvSpPr>
          <p:cNvPr id="25" name="Shape 19"/>
          <p:cNvSpPr/>
          <p:nvPr/>
        </p:nvSpPr>
        <p:spPr>
          <a:xfrm>
            <a:off x="4609948" y="4251960"/>
            <a:ext cx="566928" cy="566928"/>
          </a:xfrm>
          <a:prstGeom prst="ellipse">
            <a:avLst/>
          </a:prstGeom>
          <a:solidFill>
            <a:srgbClr val="1E2761"/>
          </a:solidFill>
        </p:spPr>
      </p:sp>
      <p:pic>
        <p:nvPicPr>
          <p:cNvPr id="26" name="Image 4" descr="bell.png"/>
          <p:cNvPicPr>
            <a:picLocks noChangeAspect="1"/>
          </p:cNvPicPr>
          <p:nvPr/>
        </p:nvPicPr>
        <p:blipFill>
          <a:blip r:embed="rId5"/>
          <a:stretch>
            <a:fillRect/>
          </a:stretch>
        </p:blipFill>
        <p:spPr>
          <a:xfrm>
            <a:off x="4689318" y="4331330"/>
            <a:ext cx="408188" cy="408188"/>
          </a:xfrm>
          <a:prstGeom prst="rect">
            <a:avLst/>
          </a:prstGeom>
        </p:spPr>
      </p:pic>
      <p:sp>
        <p:nvSpPr>
          <p:cNvPr id="27" name="Text 20"/>
          <p:cNvSpPr/>
          <p:nvPr/>
        </p:nvSpPr>
        <p:spPr>
          <a:xfrm>
            <a:off x="5295748" y="4224528"/>
            <a:ext cx="2331720" cy="594360"/>
          </a:xfrm>
          <a:prstGeom prst="rect">
            <a:avLst/>
          </a:prstGeom>
          <a:noFill/>
        </p:spPr>
        <p:txBody>
          <a:bodyPr wrap="square" lIns="0" tIns="0" rIns="0" bIns="0" rtlCol="0" anchor="t"/>
          <a:lstStyle/>
          <a:p>
            <a:pPr marL="0" indent="0">
              <a:buNone/>
            </a:pPr>
            <a:r>
              <a:rPr lang="en-US" sz="1300" b="1" dirty="0">
                <a:solidFill>
                  <a:srgbClr val="1B2140"/>
                </a:solidFill>
                <a:latin typeface="Calibri" panose="020F0502020204030204" pitchFamily="34" charset="0"/>
                <a:ea typeface="Calibri" panose="020F0502020204030204" pitchFamily="34" charset="-122"/>
                <a:cs typeface="Calibri" panose="020F0502020204030204" pitchFamily="34" charset="-120"/>
              </a:rPr>
              <a:t>Notifications &amp; Alerts</a:t>
            </a:r>
            <a:endParaRPr lang="en-US" sz="1300" dirty="0"/>
          </a:p>
        </p:txBody>
      </p:sp>
      <p:sp>
        <p:nvSpPr>
          <p:cNvPr id="28" name="Text 21"/>
          <p:cNvSpPr/>
          <p:nvPr/>
        </p:nvSpPr>
        <p:spPr>
          <a:xfrm>
            <a:off x="4609948" y="4956048"/>
            <a:ext cx="2971800" cy="868680"/>
          </a:xfrm>
          <a:prstGeom prst="rect">
            <a:avLst/>
          </a:prstGeom>
          <a:noFill/>
        </p:spPr>
        <p:txBody>
          <a:bodyPr wrap="square" lIns="0" tIns="0" rIns="0" bIns="0" rtlCol="0" anchor="ctr"/>
          <a:lstStyle/>
          <a:p>
            <a:pPr marL="0" indent="0">
              <a:lnSpc>
                <a:spcPct val="120000"/>
              </a:lnSpc>
              <a:buNone/>
            </a:pPr>
            <a:r>
              <a:rPr lang="en-US" sz="1100" dirty="0">
                <a:solidFill>
                  <a:srgbClr val="5A6280"/>
                </a:solidFill>
                <a:latin typeface="Calibri" panose="020F0502020204030204" pitchFamily="34" charset="0"/>
                <a:ea typeface="Calibri" panose="020F0502020204030204" pitchFamily="34" charset="-122"/>
                <a:cs typeface="Calibri" panose="020F0502020204030204" pitchFamily="34" charset="-120"/>
              </a:rPr>
              <a:t>Inform students and staff of drive updates and deadlines.</a:t>
            </a:r>
            <a:endParaRPr lang="en-US" sz="1100" dirty="0"/>
          </a:p>
        </p:txBody>
      </p:sp>
      <p:sp>
        <p:nvSpPr>
          <p:cNvPr id="29" name="Shape 22"/>
          <p:cNvSpPr/>
          <p:nvPr/>
        </p:nvSpPr>
        <p:spPr>
          <a:xfrm>
            <a:off x="8066380" y="4023360"/>
            <a:ext cx="3429000" cy="1965960"/>
          </a:xfrm>
          <a:prstGeom prst="roundRect">
            <a:avLst>
              <a:gd name="adj" fmla="val 4651"/>
            </a:avLst>
          </a:prstGeom>
          <a:solidFill>
            <a:srgbClr val="FFFFFF"/>
          </a:solidFill>
          <a:ln w="12700">
            <a:solidFill>
              <a:srgbClr val="E2E8F5"/>
            </a:solidFill>
            <a:prstDash val="solid"/>
          </a:ln>
          <a:effectLst>
            <a:outerShdw blurRad="76200" dist="25400" dir="5400000" algn="bl" rotWithShape="0">
              <a:srgbClr val="1E2761">
                <a:alpha val="10000"/>
              </a:srgbClr>
            </a:outerShdw>
          </a:effectLst>
        </p:spPr>
      </p:sp>
      <p:sp>
        <p:nvSpPr>
          <p:cNvPr id="30" name="Shape 23"/>
          <p:cNvSpPr/>
          <p:nvPr/>
        </p:nvSpPr>
        <p:spPr>
          <a:xfrm>
            <a:off x="8294980" y="4251960"/>
            <a:ext cx="566928" cy="566928"/>
          </a:xfrm>
          <a:prstGeom prst="ellipse">
            <a:avLst/>
          </a:prstGeom>
          <a:solidFill>
            <a:srgbClr val="1E2761"/>
          </a:solidFill>
        </p:spPr>
      </p:sp>
      <p:pic>
        <p:nvPicPr>
          <p:cNvPr id="31" name="Image 5" descr="chart.png"/>
          <p:cNvPicPr>
            <a:picLocks noChangeAspect="1"/>
          </p:cNvPicPr>
          <p:nvPr/>
        </p:nvPicPr>
        <p:blipFill>
          <a:blip r:embed="rId6"/>
          <a:stretch>
            <a:fillRect/>
          </a:stretch>
        </p:blipFill>
        <p:spPr>
          <a:xfrm>
            <a:off x="8374350" y="4331330"/>
            <a:ext cx="408188" cy="408188"/>
          </a:xfrm>
          <a:prstGeom prst="rect">
            <a:avLst/>
          </a:prstGeom>
        </p:spPr>
      </p:pic>
      <p:sp>
        <p:nvSpPr>
          <p:cNvPr id="32" name="Text 24"/>
          <p:cNvSpPr/>
          <p:nvPr/>
        </p:nvSpPr>
        <p:spPr>
          <a:xfrm>
            <a:off x="8980780" y="4224528"/>
            <a:ext cx="2331720" cy="594360"/>
          </a:xfrm>
          <a:prstGeom prst="rect">
            <a:avLst/>
          </a:prstGeom>
          <a:noFill/>
        </p:spPr>
        <p:txBody>
          <a:bodyPr wrap="square" lIns="0" tIns="0" rIns="0" bIns="0" rtlCol="0" anchor="t"/>
          <a:lstStyle/>
          <a:p>
            <a:pPr marL="0" indent="0">
              <a:buNone/>
            </a:pPr>
            <a:r>
              <a:rPr lang="en-US" sz="1300" b="1" dirty="0">
                <a:solidFill>
                  <a:srgbClr val="1B2140"/>
                </a:solidFill>
                <a:latin typeface="Calibri" panose="020F0502020204030204" pitchFamily="34" charset="0"/>
                <a:ea typeface="Calibri" panose="020F0502020204030204" pitchFamily="34" charset="-122"/>
                <a:cs typeface="Calibri" panose="020F0502020204030204" pitchFamily="34" charset="-120"/>
              </a:rPr>
              <a:t>Reports &amp; Analytics</a:t>
            </a:r>
            <a:endParaRPr lang="en-US" sz="1300" dirty="0"/>
          </a:p>
        </p:txBody>
      </p:sp>
      <p:sp>
        <p:nvSpPr>
          <p:cNvPr id="33" name="Text 25"/>
          <p:cNvSpPr/>
          <p:nvPr/>
        </p:nvSpPr>
        <p:spPr>
          <a:xfrm>
            <a:off x="8294980" y="4956048"/>
            <a:ext cx="2971800" cy="868680"/>
          </a:xfrm>
          <a:prstGeom prst="rect">
            <a:avLst/>
          </a:prstGeom>
          <a:noFill/>
        </p:spPr>
        <p:txBody>
          <a:bodyPr wrap="square" lIns="0" tIns="0" rIns="0" bIns="0" rtlCol="0" anchor="ctr"/>
          <a:lstStyle/>
          <a:p>
            <a:pPr marL="0" indent="0">
              <a:lnSpc>
                <a:spcPct val="120000"/>
              </a:lnSpc>
              <a:buNone/>
            </a:pPr>
            <a:r>
              <a:rPr lang="en-US" sz="1100" dirty="0">
                <a:solidFill>
                  <a:srgbClr val="5A6280"/>
                </a:solidFill>
                <a:latin typeface="Calibri" panose="020F0502020204030204" pitchFamily="34" charset="0"/>
                <a:ea typeface="Calibri" panose="020F0502020204030204" pitchFamily="34" charset="-122"/>
                <a:cs typeface="Calibri" panose="020F0502020204030204" pitchFamily="34" charset="-120"/>
              </a:rPr>
              <a:t>Generate placement statistics and drive-wise summaries.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p:spPr>
        <p:txBody>
          <a:bodyPr wrap="square" lIns="0" tIns="0" rIns="0" bIns="0" rtlCol="0" anchor="ctr"/>
          <a:lstStyle/>
          <a:p>
            <a:pPr marL="0" indent="0">
              <a:buNone/>
            </a:pPr>
            <a:endParaRPr lang="en-US" sz="1200" dirty="0"/>
          </a:p>
        </p:txBody>
      </p:sp>
      <p:sp>
        <p:nvSpPr>
          <p:cNvPr id="3" name="Text 1"/>
          <p:cNvSpPr/>
          <p:nvPr/>
        </p:nvSpPr>
        <p:spPr>
          <a:xfrm>
            <a:off x="640080" y="658368"/>
            <a:ext cx="10515600" cy="777240"/>
          </a:xfrm>
          <a:prstGeom prst="rect">
            <a:avLst/>
          </a:prstGeom>
          <a:noFill/>
        </p:spPr>
        <p:txBody>
          <a:bodyPr wrap="square" lIns="0" tIns="0" rIns="0" bIns="0" rtlCol="0" anchor="ctr"/>
          <a:lstStyle/>
          <a:p>
            <a:pPr marL="0" indent="0">
              <a:buNone/>
            </a:pPr>
            <a:r>
              <a:rPr lang="en-US" sz="3000" b="1" dirty="0">
                <a:solidFill>
                  <a:srgbClr val="1B2140"/>
                </a:solidFill>
                <a:latin typeface="Cambria" panose="02040503050406030204" pitchFamily="34" charset="0"/>
                <a:ea typeface="Cambria" panose="02040503050406030204" pitchFamily="34" charset="-122"/>
                <a:cs typeface="Cambria" panose="02040503050406030204" pitchFamily="34" charset="-120"/>
              </a:rPr>
              <a:t>Tools and Technologies to be Used</a:t>
            </a:r>
            <a:endParaRPr lang="en-US" sz="3000" dirty="0"/>
          </a:p>
        </p:txBody>
      </p:sp>
      <p:sp>
        <p:nvSpPr>
          <p:cNvPr id="4" name="Shape 2"/>
          <p:cNvSpPr/>
          <p:nvPr/>
        </p:nvSpPr>
        <p:spPr>
          <a:xfrm>
            <a:off x="696316" y="1783080"/>
            <a:ext cx="3429000" cy="1965960"/>
          </a:xfrm>
          <a:prstGeom prst="roundRect">
            <a:avLst>
              <a:gd name="adj" fmla="val 4651"/>
            </a:avLst>
          </a:prstGeom>
          <a:solidFill>
            <a:srgbClr val="1E2761"/>
          </a:solidFill>
        </p:spPr>
      </p:sp>
      <p:sp>
        <p:nvSpPr>
          <p:cNvPr id="5" name="Shape 3"/>
          <p:cNvSpPr/>
          <p:nvPr/>
        </p:nvSpPr>
        <p:spPr>
          <a:xfrm>
            <a:off x="952348" y="2039112"/>
            <a:ext cx="621792" cy="621792"/>
          </a:xfrm>
          <a:prstGeom prst="ellipse">
            <a:avLst/>
          </a:prstGeom>
          <a:solidFill>
            <a:srgbClr val="3E5CC7"/>
          </a:solidFill>
        </p:spPr>
      </p:sp>
      <p:pic>
        <p:nvPicPr>
          <p:cNvPr id="6" name="Image 0" descr="code.png"/>
          <p:cNvPicPr>
            <a:picLocks noChangeAspect="1"/>
          </p:cNvPicPr>
          <p:nvPr/>
        </p:nvPicPr>
        <p:blipFill>
          <a:blip r:embed="rId1"/>
          <a:stretch>
            <a:fillRect/>
          </a:stretch>
        </p:blipFill>
        <p:spPr>
          <a:xfrm>
            <a:off x="1039398" y="2126163"/>
            <a:ext cx="447690" cy="447690"/>
          </a:xfrm>
          <a:prstGeom prst="rect">
            <a:avLst/>
          </a:prstGeom>
        </p:spPr>
      </p:pic>
      <p:sp>
        <p:nvSpPr>
          <p:cNvPr id="7" name="Text 4"/>
          <p:cNvSpPr/>
          <p:nvPr/>
        </p:nvSpPr>
        <p:spPr>
          <a:xfrm>
            <a:off x="952348" y="2807208"/>
            <a:ext cx="2916936" cy="365760"/>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Frontend</a:t>
            </a:r>
            <a:endParaRPr lang="en-US" sz="1500" dirty="0"/>
          </a:p>
        </p:txBody>
      </p:sp>
      <p:sp>
        <p:nvSpPr>
          <p:cNvPr id="8" name="Text 5"/>
          <p:cNvSpPr/>
          <p:nvPr/>
        </p:nvSpPr>
        <p:spPr>
          <a:xfrm>
            <a:off x="952348" y="3172968"/>
            <a:ext cx="2916936" cy="457200"/>
          </a:xfrm>
          <a:prstGeom prst="rect">
            <a:avLst/>
          </a:prstGeom>
          <a:noFill/>
        </p:spPr>
        <p:txBody>
          <a:bodyPr wrap="square" lIns="0" tIns="0" rIns="0" bIns="0" rtlCol="0" anchor="ctr"/>
          <a:lstStyle/>
          <a:p>
            <a:pPr marL="0" indent="0">
              <a:lnSpc>
                <a:spcPct val="12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HTML, CSS, JavaScript, React.js</a:t>
            </a:r>
            <a:endParaRPr lang="en-US" sz="1150" dirty="0"/>
          </a:p>
        </p:txBody>
      </p:sp>
      <p:sp>
        <p:nvSpPr>
          <p:cNvPr id="9" name="Shape 6"/>
          <p:cNvSpPr/>
          <p:nvPr/>
        </p:nvSpPr>
        <p:spPr>
          <a:xfrm>
            <a:off x="4381348" y="1783080"/>
            <a:ext cx="3429000" cy="1965960"/>
          </a:xfrm>
          <a:prstGeom prst="roundRect">
            <a:avLst>
              <a:gd name="adj" fmla="val 4651"/>
            </a:avLst>
          </a:prstGeom>
          <a:solidFill>
            <a:srgbClr val="1E2761"/>
          </a:solidFill>
        </p:spPr>
      </p:sp>
      <p:sp>
        <p:nvSpPr>
          <p:cNvPr id="10" name="Shape 7"/>
          <p:cNvSpPr/>
          <p:nvPr/>
        </p:nvSpPr>
        <p:spPr>
          <a:xfrm>
            <a:off x="4637380" y="2039112"/>
            <a:ext cx="621792" cy="621792"/>
          </a:xfrm>
          <a:prstGeom prst="ellipse">
            <a:avLst/>
          </a:prstGeom>
          <a:solidFill>
            <a:srgbClr val="3E5CC7"/>
          </a:solidFill>
        </p:spPr>
      </p:sp>
      <p:pic>
        <p:nvPicPr>
          <p:cNvPr id="11" name="Image 1" descr="plug.png"/>
          <p:cNvPicPr>
            <a:picLocks noChangeAspect="1"/>
          </p:cNvPicPr>
          <p:nvPr/>
        </p:nvPicPr>
        <p:blipFill>
          <a:blip r:embed="rId2"/>
          <a:stretch>
            <a:fillRect/>
          </a:stretch>
        </p:blipFill>
        <p:spPr>
          <a:xfrm>
            <a:off x="4724430" y="2126163"/>
            <a:ext cx="447690" cy="447690"/>
          </a:xfrm>
          <a:prstGeom prst="rect">
            <a:avLst/>
          </a:prstGeom>
        </p:spPr>
      </p:pic>
      <p:sp>
        <p:nvSpPr>
          <p:cNvPr id="12" name="Text 8"/>
          <p:cNvSpPr/>
          <p:nvPr/>
        </p:nvSpPr>
        <p:spPr>
          <a:xfrm>
            <a:off x="4637380" y="2807208"/>
            <a:ext cx="2916936" cy="365760"/>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Backend</a:t>
            </a:r>
            <a:endParaRPr lang="en-US" sz="1500" dirty="0"/>
          </a:p>
        </p:txBody>
      </p:sp>
      <p:sp>
        <p:nvSpPr>
          <p:cNvPr id="13" name="Text 9"/>
          <p:cNvSpPr/>
          <p:nvPr/>
        </p:nvSpPr>
        <p:spPr>
          <a:xfrm>
            <a:off x="4637380" y="3172968"/>
            <a:ext cx="2916936" cy="457200"/>
          </a:xfrm>
          <a:prstGeom prst="rect">
            <a:avLst/>
          </a:prstGeom>
          <a:noFill/>
        </p:spPr>
        <p:txBody>
          <a:bodyPr wrap="square" lIns="0" tIns="0" rIns="0" bIns="0" rtlCol="0" anchor="ctr"/>
          <a:lstStyle/>
          <a:p>
            <a:pPr marL="0" indent="0">
              <a:lnSpc>
                <a:spcPct val="12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Node.js / Django / Java (Spring Boot)</a:t>
            </a:r>
            <a:endParaRPr lang="en-US" sz="1150" dirty="0"/>
          </a:p>
        </p:txBody>
      </p:sp>
      <p:sp>
        <p:nvSpPr>
          <p:cNvPr id="14" name="Shape 10"/>
          <p:cNvSpPr/>
          <p:nvPr/>
        </p:nvSpPr>
        <p:spPr>
          <a:xfrm>
            <a:off x="8066380" y="1783080"/>
            <a:ext cx="3429000" cy="1965960"/>
          </a:xfrm>
          <a:prstGeom prst="roundRect">
            <a:avLst>
              <a:gd name="adj" fmla="val 4651"/>
            </a:avLst>
          </a:prstGeom>
          <a:solidFill>
            <a:srgbClr val="1E2761"/>
          </a:solidFill>
        </p:spPr>
      </p:sp>
      <p:sp>
        <p:nvSpPr>
          <p:cNvPr id="15" name="Shape 11"/>
          <p:cNvSpPr/>
          <p:nvPr/>
        </p:nvSpPr>
        <p:spPr>
          <a:xfrm>
            <a:off x="8322412" y="2039112"/>
            <a:ext cx="621792" cy="621792"/>
          </a:xfrm>
          <a:prstGeom prst="ellipse">
            <a:avLst/>
          </a:prstGeom>
          <a:solidFill>
            <a:srgbClr val="3E5CC7"/>
          </a:solidFill>
        </p:spPr>
      </p:sp>
      <p:pic>
        <p:nvPicPr>
          <p:cNvPr id="16" name="Image 2" descr="db.png"/>
          <p:cNvPicPr>
            <a:picLocks noChangeAspect="1"/>
          </p:cNvPicPr>
          <p:nvPr/>
        </p:nvPicPr>
        <p:blipFill>
          <a:blip r:embed="rId3"/>
          <a:stretch>
            <a:fillRect/>
          </a:stretch>
        </p:blipFill>
        <p:spPr>
          <a:xfrm>
            <a:off x="8409462" y="2126163"/>
            <a:ext cx="447690" cy="447690"/>
          </a:xfrm>
          <a:prstGeom prst="rect">
            <a:avLst/>
          </a:prstGeom>
        </p:spPr>
      </p:pic>
      <p:sp>
        <p:nvSpPr>
          <p:cNvPr id="17" name="Text 12"/>
          <p:cNvSpPr/>
          <p:nvPr/>
        </p:nvSpPr>
        <p:spPr>
          <a:xfrm>
            <a:off x="8322412" y="2807208"/>
            <a:ext cx="2916936" cy="365760"/>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Database</a:t>
            </a:r>
            <a:endParaRPr lang="en-US" sz="1500" dirty="0"/>
          </a:p>
        </p:txBody>
      </p:sp>
      <p:sp>
        <p:nvSpPr>
          <p:cNvPr id="18" name="Text 13"/>
          <p:cNvSpPr/>
          <p:nvPr/>
        </p:nvSpPr>
        <p:spPr>
          <a:xfrm>
            <a:off x="8322412" y="3172968"/>
            <a:ext cx="2916936" cy="457200"/>
          </a:xfrm>
          <a:prstGeom prst="rect">
            <a:avLst/>
          </a:prstGeom>
          <a:noFill/>
        </p:spPr>
        <p:txBody>
          <a:bodyPr wrap="square" lIns="0" tIns="0" rIns="0" bIns="0" rtlCol="0" anchor="ctr"/>
          <a:lstStyle/>
          <a:p>
            <a:pPr marL="0" indent="0">
              <a:lnSpc>
                <a:spcPct val="12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MySQL / MongoDB</a:t>
            </a:r>
            <a:endParaRPr lang="en-US" sz="1150" dirty="0"/>
          </a:p>
        </p:txBody>
      </p:sp>
      <p:sp>
        <p:nvSpPr>
          <p:cNvPr id="19" name="Shape 14"/>
          <p:cNvSpPr/>
          <p:nvPr/>
        </p:nvSpPr>
        <p:spPr>
          <a:xfrm>
            <a:off x="696316" y="4023360"/>
            <a:ext cx="3429000" cy="1965960"/>
          </a:xfrm>
          <a:prstGeom prst="roundRect">
            <a:avLst>
              <a:gd name="adj" fmla="val 4651"/>
            </a:avLst>
          </a:prstGeom>
          <a:solidFill>
            <a:srgbClr val="1E2761"/>
          </a:solidFill>
        </p:spPr>
      </p:sp>
      <p:sp>
        <p:nvSpPr>
          <p:cNvPr id="20" name="Shape 15"/>
          <p:cNvSpPr/>
          <p:nvPr/>
        </p:nvSpPr>
        <p:spPr>
          <a:xfrm>
            <a:off x="952348" y="4279392"/>
            <a:ext cx="621792" cy="621792"/>
          </a:xfrm>
          <a:prstGeom prst="ellipse">
            <a:avLst/>
          </a:prstGeom>
          <a:solidFill>
            <a:srgbClr val="3E5CC7"/>
          </a:solidFill>
        </p:spPr>
      </p:sp>
      <p:pic>
        <p:nvPicPr>
          <p:cNvPr id="21" name="Image 3" descr="cloud.png"/>
          <p:cNvPicPr>
            <a:picLocks noChangeAspect="1"/>
          </p:cNvPicPr>
          <p:nvPr/>
        </p:nvPicPr>
        <p:blipFill>
          <a:blip r:embed="rId4"/>
          <a:stretch>
            <a:fillRect/>
          </a:stretch>
        </p:blipFill>
        <p:spPr>
          <a:xfrm>
            <a:off x="1039398" y="4366443"/>
            <a:ext cx="447690" cy="447690"/>
          </a:xfrm>
          <a:prstGeom prst="rect">
            <a:avLst/>
          </a:prstGeom>
        </p:spPr>
      </p:pic>
      <p:sp>
        <p:nvSpPr>
          <p:cNvPr id="22" name="Text 16"/>
          <p:cNvSpPr/>
          <p:nvPr/>
        </p:nvSpPr>
        <p:spPr>
          <a:xfrm>
            <a:off x="952348" y="5047488"/>
            <a:ext cx="2916936" cy="365760"/>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Hosting &amp; Cloud</a:t>
            </a:r>
            <a:endParaRPr lang="en-US" sz="1500" dirty="0"/>
          </a:p>
        </p:txBody>
      </p:sp>
      <p:sp>
        <p:nvSpPr>
          <p:cNvPr id="23" name="Text 17"/>
          <p:cNvSpPr/>
          <p:nvPr/>
        </p:nvSpPr>
        <p:spPr>
          <a:xfrm>
            <a:off x="952348" y="5413248"/>
            <a:ext cx="2916936" cy="457200"/>
          </a:xfrm>
          <a:prstGeom prst="rect">
            <a:avLst/>
          </a:prstGeom>
          <a:noFill/>
        </p:spPr>
        <p:txBody>
          <a:bodyPr wrap="square" lIns="0" tIns="0" rIns="0" bIns="0" rtlCol="0" anchor="ctr"/>
          <a:lstStyle/>
          <a:p>
            <a:pPr marL="0" indent="0">
              <a:lnSpc>
                <a:spcPct val="12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AWS / Firebase / Render</a:t>
            </a:r>
            <a:endParaRPr lang="en-US" sz="1150" dirty="0"/>
          </a:p>
        </p:txBody>
      </p:sp>
      <p:sp>
        <p:nvSpPr>
          <p:cNvPr id="24" name="Shape 18"/>
          <p:cNvSpPr/>
          <p:nvPr/>
        </p:nvSpPr>
        <p:spPr>
          <a:xfrm>
            <a:off x="4381348" y="4023360"/>
            <a:ext cx="3429000" cy="1965960"/>
          </a:xfrm>
          <a:prstGeom prst="roundRect">
            <a:avLst>
              <a:gd name="adj" fmla="val 4651"/>
            </a:avLst>
          </a:prstGeom>
          <a:solidFill>
            <a:srgbClr val="1E2761"/>
          </a:solidFill>
        </p:spPr>
      </p:sp>
      <p:sp>
        <p:nvSpPr>
          <p:cNvPr id="25" name="Shape 19"/>
          <p:cNvSpPr/>
          <p:nvPr/>
        </p:nvSpPr>
        <p:spPr>
          <a:xfrm>
            <a:off x="4637380" y="4279392"/>
            <a:ext cx="621792" cy="621792"/>
          </a:xfrm>
          <a:prstGeom prst="ellipse">
            <a:avLst/>
          </a:prstGeom>
          <a:solidFill>
            <a:srgbClr val="3E5CC7"/>
          </a:solidFill>
        </p:spPr>
      </p:sp>
      <p:pic>
        <p:nvPicPr>
          <p:cNvPr id="26" name="Image 4" descr="shield.png"/>
          <p:cNvPicPr>
            <a:picLocks noChangeAspect="1"/>
          </p:cNvPicPr>
          <p:nvPr/>
        </p:nvPicPr>
        <p:blipFill>
          <a:blip r:embed="rId5"/>
          <a:stretch>
            <a:fillRect/>
          </a:stretch>
        </p:blipFill>
        <p:spPr>
          <a:xfrm>
            <a:off x="4724430" y="4366443"/>
            <a:ext cx="447690" cy="447690"/>
          </a:xfrm>
          <a:prstGeom prst="rect">
            <a:avLst/>
          </a:prstGeom>
        </p:spPr>
      </p:pic>
      <p:sp>
        <p:nvSpPr>
          <p:cNvPr id="27" name="Text 20"/>
          <p:cNvSpPr/>
          <p:nvPr/>
        </p:nvSpPr>
        <p:spPr>
          <a:xfrm>
            <a:off x="4637380" y="5047488"/>
            <a:ext cx="2916936" cy="365760"/>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Authentication</a:t>
            </a:r>
            <a:endParaRPr lang="en-US" sz="1500" dirty="0"/>
          </a:p>
        </p:txBody>
      </p:sp>
      <p:sp>
        <p:nvSpPr>
          <p:cNvPr id="28" name="Text 21"/>
          <p:cNvSpPr/>
          <p:nvPr/>
        </p:nvSpPr>
        <p:spPr>
          <a:xfrm>
            <a:off x="4637380" y="5413248"/>
            <a:ext cx="2916936" cy="457200"/>
          </a:xfrm>
          <a:prstGeom prst="rect">
            <a:avLst/>
          </a:prstGeom>
          <a:noFill/>
        </p:spPr>
        <p:txBody>
          <a:bodyPr wrap="square" lIns="0" tIns="0" rIns="0" bIns="0" rtlCol="0" anchor="ctr"/>
          <a:lstStyle/>
          <a:p>
            <a:pPr marL="0" indent="0">
              <a:lnSpc>
                <a:spcPct val="12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JWT-based secure login system</a:t>
            </a:r>
            <a:endParaRPr lang="en-US" sz="1150" dirty="0"/>
          </a:p>
        </p:txBody>
      </p:sp>
      <p:sp>
        <p:nvSpPr>
          <p:cNvPr id="29" name="Shape 22"/>
          <p:cNvSpPr/>
          <p:nvPr/>
        </p:nvSpPr>
        <p:spPr>
          <a:xfrm>
            <a:off x="8066380" y="4023360"/>
            <a:ext cx="3429000" cy="1965960"/>
          </a:xfrm>
          <a:prstGeom prst="roundRect">
            <a:avLst>
              <a:gd name="adj" fmla="val 4651"/>
            </a:avLst>
          </a:prstGeom>
          <a:solidFill>
            <a:srgbClr val="1E2761"/>
          </a:solidFill>
        </p:spPr>
      </p:sp>
      <p:sp>
        <p:nvSpPr>
          <p:cNvPr id="30" name="Shape 23"/>
          <p:cNvSpPr/>
          <p:nvPr/>
        </p:nvSpPr>
        <p:spPr>
          <a:xfrm>
            <a:off x="8322412" y="4279392"/>
            <a:ext cx="621792" cy="621792"/>
          </a:xfrm>
          <a:prstGeom prst="ellipse">
            <a:avLst/>
          </a:prstGeom>
          <a:solidFill>
            <a:srgbClr val="3E5CC7"/>
          </a:solidFill>
        </p:spPr>
      </p:sp>
      <p:pic>
        <p:nvPicPr>
          <p:cNvPr id="31" name="Image 5" descr="git.png"/>
          <p:cNvPicPr>
            <a:picLocks noChangeAspect="1"/>
          </p:cNvPicPr>
          <p:nvPr/>
        </p:nvPicPr>
        <p:blipFill>
          <a:blip r:embed="rId6"/>
          <a:stretch>
            <a:fillRect/>
          </a:stretch>
        </p:blipFill>
        <p:spPr>
          <a:xfrm>
            <a:off x="8409462" y="4366443"/>
            <a:ext cx="447690" cy="447690"/>
          </a:xfrm>
          <a:prstGeom prst="rect">
            <a:avLst/>
          </a:prstGeom>
        </p:spPr>
      </p:pic>
      <p:sp>
        <p:nvSpPr>
          <p:cNvPr id="32" name="Text 24"/>
          <p:cNvSpPr/>
          <p:nvPr/>
        </p:nvSpPr>
        <p:spPr>
          <a:xfrm>
            <a:off x="8322412" y="5047488"/>
            <a:ext cx="2916936" cy="365760"/>
          </a:xfrm>
          <a:prstGeom prst="rect">
            <a:avLst/>
          </a:prstGeom>
          <a:noFill/>
        </p:spPr>
        <p:txBody>
          <a:bodyPr wrap="square" lIns="0" tIns="0" rIns="0" bIns="0" rtlCol="0" anchor="ctr"/>
          <a:lstStyle/>
          <a:p>
            <a:pPr marL="0" indent="0">
              <a:buNone/>
            </a:pPr>
            <a:r>
              <a:rPr lang="en-US" sz="1500" b="1" dirty="0">
                <a:solidFill>
                  <a:srgbClr val="FFFFFF"/>
                </a:solidFill>
                <a:latin typeface="Calibri" panose="020F0502020204030204" pitchFamily="34" charset="0"/>
                <a:ea typeface="Calibri" panose="020F0502020204030204" pitchFamily="34" charset="-122"/>
                <a:cs typeface="Calibri" panose="020F0502020204030204" pitchFamily="34" charset="-120"/>
              </a:rPr>
              <a:t>Version Control</a:t>
            </a:r>
            <a:endParaRPr lang="en-US" sz="1500" dirty="0"/>
          </a:p>
        </p:txBody>
      </p:sp>
      <p:sp>
        <p:nvSpPr>
          <p:cNvPr id="33" name="Text 25"/>
          <p:cNvSpPr/>
          <p:nvPr/>
        </p:nvSpPr>
        <p:spPr>
          <a:xfrm>
            <a:off x="8322412" y="5413248"/>
            <a:ext cx="2916936" cy="457200"/>
          </a:xfrm>
          <a:prstGeom prst="rect">
            <a:avLst/>
          </a:prstGeom>
          <a:noFill/>
        </p:spPr>
        <p:txBody>
          <a:bodyPr wrap="square" lIns="0" tIns="0" rIns="0" bIns="0" rtlCol="0" anchor="ctr"/>
          <a:lstStyle/>
          <a:p>
            <a:pPr marL="0" indent="0">
              <a:lnSpc>
                <a:spcPct val="120000"/>
              </a:lnSpc>
              <a:buNone/>
            </a:pPr>
            <a:r>
              <a:rPr lang="en-US" sz="1150" dirty="0">
                <a:solidFill>
                  <a:srgbClr val="CADCFC"/>
                </a:solidFill>
                <a:latin typeface="Calibri" panose="020F0502020204030204" pitchFamily="34" charset="0"/>
                <a:ea typeface="Calibri" panose="020F0502020204030204" pitchFamily="34" charset="-122"/>
                <a:cs typeface="Calibri" panose="020F0502020204030204" pitchFamily="34" charset="-120"/>
              </a:rPr>
              <a:t>Git and GitHub</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3" name="Text 1"/>
          <p:cNvSpPr/>
          <p:nvPr/>
        </p:nvSpPr>
        <p:spPr>
          <a:xfrm>
            <a:off x="640080" y="457200"/>
            <a:ext cx="7315200" cy="320040"/>
          </a:xfrm>
          <a:prstGeom prst="rect">
            <a:avLst/>
          </a:prstGeom>
          <a:noFill/>
        </p:spPr>
        <p:txBody>
          <a:bodyPr wrap="square" lIns="0" tIns="0" rIns="0" bIns="0" rtlCol="0" anchor="ctr"/>
          <a:lstStyle/>
          <a:p>
            <a:pPr marL="0" indent="0">
              <a:buNone/>
            </a:pPr>
            <a:endParaRPr lang="en-US" sz="1200" dirty="0"/>
          </a:p>
        </p:txBody>
      </p:sp>
      <p:sp>
        <p:nvSpPr>
          <p:cNvPr id="4" name="Text 2"/>
          <p:cNvSpPr/>
          <p:nvPr/>
        </p:nvSpPr>
        <p:spPr>
          <a:xfrm>
            <a:off x="640080" y="731520"/>
            <a:ext cx="10515600" cy="77724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Expected Outcome</a:t>
            </a:r>
            <a:endParaRPr lang="en-US" sz="3000" dirty="0"/>
          </a:p>
        </p:txBody>
      </p:sp>
      <p:sp>
        <p:nvSpPr>
          <p:cNvPr id="5" name="Shape 3"/>
          <p:cNvSpPr/>
          <p:nvPr/>
        </p:nvSpPr>
        <p:spPr>
          <a:xfrm>
            <a:off x="640080" y="1965960"/>
            <a:ext cx="457200" cy="457200"/>
          </a:xfrm>
          <a:prstGeom prst="ellipse">
            <a:avLst/>
          </a:prstGeom>
          <a:solidFill>
            <a:srgbClr val="3E5CC7"/>
          </a:solidFill>
        </p:spPr>
      </p:sp>
      <p:pic>
        <p:nvPicPr>
          <p:cNvPr id="6" name="Image 0" descr="check.png"/>
          <p:cNvPicPr>
            <a:picLocks noChangeAspect="1"/>
          </p:cNvPicPr>
          <p:nvPr/>
        </p:nvPicPr>
        <p:blipFill>
          <a:blip r:embed="rId1"/>
          <a:stretch>
            <a:fillRect/>
          </a:stretch>
        </p:blipFill>
        <p:spPr>
          <a:xfrm>
            <a:off x="704088" y="2029968"/>
            <a:ext cx="329184" cy="329184"/>
          </a:xfrm>
          <a:prstGeom prst="rect">
            <a:avLst/>
          </a:prstGeom>
        </p:spPr>
      </p:pic>
      <p:sp>
        <p:nvSpPr>
          <p:cNvPr id="7" name="Text 4"/>
          <p:cNvSpPr/>
          <p:nvPr/>
        </p:nvSpPr>
        <p:spPr>
          <a:xfrm>
            <a:off x="1325880" y="1947672"/>
            <a:ext cx="9966960" cy="502920"/>
          </a:xfrm>
          <a:prstGeom prst="rect">
            <a:avLst/>
          </a:prstGeom>
          <a:noFill/>
        </p:spPr>
        <p:txBody>
          <a:bodyPr wrap="square" lIns="0" tIns="0" rIns="0" bIns="0" rtlCol="0" anchor="ctr"/>
          <a:lstStyle/>
          <a:p>
            <a:pPr marL="0" indent="0">
              <a:lnSpc>
                <a:spcPct val="12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A single, verified source of student and company data accessible to the placement cell.</a:t>
            </a:r>
            <a:endParaRPr lang="en-US" sz="1400" dirty="0"/>
          </a:p>
        </p:txBody>
      </p:sp>
      <p:sp>
        <p:nvSpPr>
          <p:cNvPr id="8" name="Shape 5"/>
          <p:cNvSpPr/>
          <p:nvPr/>
        </p:nvSpPr>
        <p:spPr>
          <a:xfrm>
            <a:off x="640080" y="2651760"/>
            <a:ext cx="457200" cy="457200"/>
          </a:xfrm>
          <a:prstGeom prst="ellipse">
            <a:avLst/>
          </a:prstGeom>
          <a:solidFill>
            <a:srgbClr val="3E5CC7"/>
          </a:solidFill>
        </p:spPr>
      </p:sp>
      <p:pic>
        <p:nvPicPr>
          <p:cNvPr id="9" name="Image 1" descr="check.png"/>
          <p:cNvPicPr>
            <a:picLocks noChangeAspect="1"/>
          </p:cNvPicPr>
          <p:nvPr/>
        </p:nvPicPr>
        <p:blipFill>
          <a:blip r:embed="rId1"/>
          <a:stretch>
            <a:fillRect/>
          </a:stretch>
        </p:blipFill>
        <p:spPr>
          <a:xfrm>
            <a:off x="704088" y="2715768"/>
            <a:ext cx="329184" cy="329184"/>
          </a:xfrm>
          <a:prstGeom prst="rect">
            <a:avLst/>
          </a:prstGeom>
        </p:spPr>
      </p:pic>
      <p:sp>
        <p:nvSpPr>
          <p:cNvPr id="10" name="Text 6"/>
          <p:cNvSpPr/>
          <p:nvPr/>
        </p:nvSpPr>
        <p:spPr>
          <a:xfrm>
            <a:off x="1325880" y="2633472"/>
            <a:ext cx="9966960" cy="502920"/>
          </a:xfrm>
          <a:prstGeom prst="rect">
            <a:avLst/>
          </a:prstGeom>
          <a:noFill/>
        </p:spPr>
        <p:txBody>
          <a:bodyPr wrap="square" lIns="0" tIns="0" rIns="0" bIns="0" rtlCol="0" anchor="ctr"/>
          <a:lstStyle/>
          <a:p>
            <a:pPr marL="0" indent="0">
              <a:lnSpc>
                <a:spcPct val="12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Faster, more accurate matching of students to job openings based on eligibility and skills.</a:t>
            </a:r>
            <a:endParaRPr lang="en-US" sz="1400" dirty="0"/>
          </a:p>
        </p:txBody>
      </p:sp>
      <p:sp>
        <p:nvSpPr>
          <p:cNvPr id="11" name="Shape 7"/>
          <p:cNvSpPr/>
          <p:nvPr/>
        </p:nvSpPr>
        <p:spPr>
          <a:xfrm>
            <a:off x="640080" y="3337560"/>
            <a:ext cx="457200" cy="457200"/>
          </a:xfrm>
          <a:prstGeom prst="ellipse">
            <a:avLst/>
          </a:prstGeom>
          <a:solidFill>
            <a:srgbClr val="3E5CC7"/>
          </a:solidFill>
        </p:spPr>
      </p:sp>
      <p:pic>
        <p:nvPicPr>
          <p:cNvPr id="12" name="Image 2" descr="check.png"/>
          <p:cNvPicPr>
            <a:picLocks noChangeAspect="1"/>
          </p:cNvPicPr>
          <p:nvPr/>
        </p:nvPicPr>
        <p:blipFill>
          <a:blip r:embed="rId1"/>
          <a:stretch>
            <a:fillRect/>
          </a:stretch>
        </p:blipFill>
        <p:spPr>
          <a:xfrm>
            <a:off x="704088" y="3401568"/>
            <a:ext cx="329184" cy="329184"/>
          </a:xfrm>
          <a:prstGeom prst="rect">
            <a:avLst/>
          </a:prstGeom>
        </p:spPr>
      </p:pic>
      <p:sp>
        <p:nvSpPr>
          <p:cNvPr id="13" name="Text 8"/>
          <p:cNvSpPr/>
          <p:nvPr/>
        </p:nvSpPr>
        <p:spPr>
          <a:xfrm>
            <a:off x="1325880" y="3319272"/>
            <a:ext cx="9966960" cy="502920"/>
          </a:xfrm>
          <a:prstGeom prst="rect">
            <a:avLst/>
          </a:prstGeom>
          <a:noFill/>
        </p:spPr>
        <p:txBody>
          <a:bodyPr wrap="square" lIns="0" tIns="0" rIns="0" bIns="0" rtlCol="0" anchor="ctr"/>
          <a:lstStyle/>
          <a:p>
            <a:pPr marL="0" indent="0">
              <a:lnSpc>
                <a:spcPct val="12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Reduced manual effort in scheduling and coordinating recruitment drives.</a:t>
            </a:r>
            <a:endParaRPr lang="en-US" sz="1400" dirty="0"/>
          </a:p>
        </p:txBody>
      </p:sp>
      <p:sp>
        <p:nvSpPr>
          <p:cNvPr id="14" name="Shape 9"/>
          <p:cNvSpPr/>
          <p:nvPr/>
        </p:nvSpPr>
        <p:spPr>
          <a:xfrm>
            <a:off x="640080" y="4023360"/>
            <a:ext cx="457200" cy="457200"/>
          </a:xfrm>
          <a:prstGeom prst="ellipse">
            <a:avLst/>
          </a:prstGeom>
          <a:solidFill>
            <a:srgbClr val="3E5CC7"/>
          </a:solidFill>
        </p:spPr>
      </p:sp>
      <p:pic>
        <p:nvPicPr>
          <p:cNvPr id="15" name="Image 3" descr="check.png"/>
          <p:cNvPicPr>
            <a:picLocks noChangeAspect="1"/>
          </p:cNvPicPr>
          <p:nvPr/>
        </p:nvPicPr>
        <p:blipFill>
          <a:blip r:embed="rId1"/>
          <a:stretch>
            <a:fillRect/>
          </a:stretch>
        </p:blipFill>
        <p:spPr>
          <a:xfrm>
            <a:off x="704088" y="4087368"/>
            <a:ext cx="329184" cy="329184"/>
          </a:xfrm>
          <a:prstGeom prst="rect">
            <a:avLst/>
          </a:prstGeom>
        </p:spPr>
      </p:pic>
      <p:sp>
        <p:nvSpPr>
          <p:cNvPr id="16" name="Text 10"/>
          <p:cNvSpPr/>
          <p:nvPr/>
        </p:nvSpPr>
        <p:spPr>
          <a:xfrm>
            <a:off x="1325880" y="4005072"/>
            <a:ext cx="9966960" cy="502920"/>
          </a:xfrm>
          <a:prstGeom prst="rect">
            <a:avLst/>
          </a:prstGeom>
          <a:noFill/>
        </p:spPr>
        <p:txBody>
          <a:bodyPr wrap="square" lIns="0" tIns="0" rIns="0" bIns="0" rtlCol="0" anchor="ctr"/>
          <a:lstStyle/>
          <a:p>
            <a:pPr marL="0" indent="0">
              <a:lnSpc>
                <a:spcPct val="12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Timely notifications for students, keeping them informed of drives and deadlines.</a:t>
            </a:r>
            <a:endParaRPr lang="en-US" sz="1400" dirty="0"/>
          </a:p>
        </p:txBody>
      </p:sp>
      <p:sp>
        <p:nvSpPr>
          <p:cNvPr id="17" name="Shape 11"/>
          <p:cNvSpPr/>
          <p:nvPr/>
        </p:nvSpPr>
        <p:spPr>
          <a:xfrm>
            <a:off x="640080" y="4709160"/>
            <a:ext cx="457200" cy="457200"/>
          </a:xfrm>
          <a:prstGeom prst="ellipse">
            <a:avLst/>
          </a:prstGeom>
          <a:solidFill>
            <a:srgbClr val="3E5CC7"/>
          </a:solidFill>
        </p:spPr>
      </p:sp>
      <p:pic>
        <p:nvPicPr>
          <p:cNvPr id="18" name="Image 4" descr="check.png"/>
          <p:cNvPicPr>
            <a:picLocks noChangeAspect="1"/>
          </p:cNvPicPr>
          <p:nvPr/>
        </p:nvPicPr>
        <p:blipFill>
          <a:blip r:embed="rId1"/>
          <a:stretch>
            <a:fillRect/>
          </a:stretch>
        </p:blipFill>
        <p:spPr>
          <a:xfrm>
            <a:off x="704088" y="4773168"/>
            <a:ext cx="329184" cy="329184"/>
          </a:xfrm>
          <a:prstGeom prst="rect">
            <a:avLst/>
          </a:prstGeom>
        </p:spPr>
      </p:pic>
      <p:sp>
        <p:nvSpPr>
          <p:cNvPr id="19" name="Text 12"/>
          <p:cNvSpPr/>
          <p:nvPr/>
        </p:nvSpPr>
        <p:spPr>
          <a:xfrm>
            <a:off x="1325880" y="4690872"/>
            <a:ext cx="9966960" cy="502920"/>
          </a:xfrm>
          <a:prstGeom prst="rect">
            <a:avLst/>
          </a:prstGeom>
          <a:noFill/>
        </p:spPr>
        <p:txBody>
          <a:bodyPr wrap="square" lIns="0" tIns="0" rIns="0" bIns="0" rtlCol="0" anchor="ctr"/>
          <a:lstStyle/>
          <a:p>
            <a:pPr marL="0" indent="0">
              <a:lnSpc>
                <a:spcPct val="120000"/>
              </a:lnSpc>
              <a:buNone/>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Clear placement statistics and reports to support decision-making by the placement cell.</a:t>
            </a:r>
            <a:endParaRPr lang="en-US" sz="1400" dirty="0"/>
          </a:p>
        </p:txBody>
      </p:sp>
      <p:sp>
        <p:nvSpPr>
          <p:cNvPr id="20" name="Shape 13"/>
          <p:cNvSpPr/>
          <p:nvPr/>
        </p:nvSpPr>
        <p:spPr>
          <a:xfrm>
            <a:off x="640080" y="5989320"/>
            <a:ext cx="1005840" cy="0"/>
          </a:xfrm>
          <a:prstGeom prst="line">
            <a:avLst/>
          </a:prstGeom>
          <a:noFill/>
          <a:ln w="38100">
            <a:solidFill>
              <a:srgbClr val="3E5CC7"/>
            </a:solidFill>
            <a:prstDash val="solid"/>
          </a:ln>
        </p:spPr>
      </p:sp>
      <p:sp>
        <p:nvSpPr>
          <p:cNvPr id="21" name="Text 14"/>
          <p:cNvSpPr/>
          <p:nvPr/>
        </p:nvSpPr>
        <p:spPr>
          <a:xfrm>
            <a:off x="640080" y="6126480"/>
            <a:ext cx="5486400" cy="411480"/>
          </a:xfrm>
          <a:prstGeom prst="rect">
            <a:avLst/>
          </a:prstGeom>
          <a:noFill/>
        </p:spPr>
        <p:txBody>
          <a:bodyPr wrap="square" lIns="0" tIns="0" rIns="0" bIns="0" rtlCol="0" anchor="ctr"/>
          <a:lstStyle/>
          <a:p>
            <a:pPr marL="0" indent="0">
              <a:buNone/>
            </a:pPr>
            <a:r>
              <a:rPr lang="en-US" sz="1600" b="1" dirty="0">
                <a:solidFill>
                  <a:srgbClr val="8FA6E8"/>
                </a:solidFill>
                <a:latin typeface="Cambria" panose="02040503050406030204" pitchFamily="34" charset="0"/>
                <a:ea typeface="Cambria" panose="02040503050406030204" pitchFamily="34" charset="-122"/>
                <a:cs typeface="Cambria" panose="02040503050406030204"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2913</Words>
  <Application>WPS Presentation</Application>
  <PresentationFormat>On-screen Show (16:9)</PresentationFormat>
  <Paragraphs>100</Paragraphs>
  <Slides>6</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6</vt:i4>
      </vt:variant>
    </vt:vector>
  </HeadingPairs>
  <TitlesOfParts>
    <vt:vector size="18"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SUBHASH</cp:lastModifiedBy>
  <cp:revision>2</cp:revision>
  <dcterms:created xsi:type="dcterms:W3CDTF">2026-07-31T04:52:00Z</dcterms:created>
  <dcterms:modified xsi:type="dcterms:W3CDTF">2026-07-31T05:03:12Z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61C05327481B4273AEA838641DC74567_13</vt:lpwstr>
  </property>
</Properties>
</file>